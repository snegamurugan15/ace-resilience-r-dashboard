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7" r:id="rId2"/>
    <p:sldId id="258" r:id="rId3"/>
    <p:sldId id="272" r:id="rId4"/>
    <p:sldId id="259" r:id="rId5"/>
    <p:sldId id="260" r:id="rId6"/>
    <p:sldId id="261" r:id="rId7"/>
    <p:sldId id="262" r:id="rId8"/>
    <p:sldId id="263" r:id="rId9"/>
    <p:sldId id="264" r:id="rId10"/>
    <p:sldId id="265" r:id="rId11"/>
    <p:sldId id="266" r:id="rId12"/>
    <p:sldId id="271" r:id="rId13"/>
  </p:sldIdLst>
  <p:sldSz cx="9144000" cy="6858000" type="screen4x3"/>
  <p:notesSz cx="6858000" cy="9144000"/>
  <p:embeddedFontLst>
    <p:embeddedFont>
      <p:font typeface="Calibri" panose="020F0502020204030204" pitchFamily="34" charset="0"/>
      <p:regular r:id="rId15"/>
      <p:bold r:id="rId16"/>
      <p:italic r:id="rId17"/>
      <p:boldItalic r:id="rId18"/>
    </p:embeddedFont>
    <p:embeddedFont>
      <p:font typeface="Century Gothic" panose="020B0502020202020204" pitchFamily="34" charset="0"/>
      <p:regular r:id="rId19"/>
      <p:bold r:id="rId20"/>
      <p:italic r:id="rId21"/>
      <p:boldItalic r:id="rId22"/>
    </p:embeddedFont>
    <p:embeddedFont>
      <p:font typeface="Century Schoolbook" panose="02040604050505020304" pitchFamily="18" charset="0"/>
      <p:regular r:id="rId23"/>
      <p:bold r:id="rId24"/>
      <p:italic r:id="rId25"/>
      <p:boldItalic r:id="rId26"/>
    </p:embeddedFont>
    <p:embeddedFont>
      <p:font typeface="Lucida Sans" panose="020B0602030504020204" pitchFamily="34" charset="0"/>
      <p:regular r:id="rId27"/>
      <p:bold r:id="rId28"/>
      <p:italic r:id="rId29"/>
      <p:boldItalic r:id="rId30"/>
    </p:embeddedFont>
    <p:embeddedFont>
      <p:font typeface="Wingdings 3" panose="05040102010807070707" pitchFamily="18" charset="2"/>
      <p:regular r:id="rId3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1400" y="4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font" Target="fonts/font16.fntdata"/><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nega" userId="4907e4577d3f62ad" providerId="LiveId" clId="{4D374A6F-6CD9-4017-8705-C48B971243CB}"/>
    <pc:docChg chg="custSel addSld modSld">
      <pc:chgData name="snega" userId="4907e4577d3f62ad" providerId="LiveId" clId="{4D374A6F-6CD9-4017-8705-C48B971243CB}" dt="2023-04-10T13:29:27.135" v="430" actId="20577"/>
      <pc:docMkLst>
        <pc:docMk/>
      </pc:docMkLst>
      <pc:sldChg chg="modSp mod">
        <pc:chgData name="snega" userId="4907e4577d3f62ad" providerId="LiveId" clId="{4D374A6F-6CD9-4017-8705-C48B971243CB}" dt="2023-04-05T17:40:03.768" v="306" actId="20577"/>
        <pc:sldMkLst>
          <pc:docMk/>
          <pc:sldMk cId="0" sldId="257"/>
        </pc:sldMkLst>
        <pc:spChg chg="mod">
          <ac:chgData name="snega" userId="4907e4577d3f62ad" providerId="LiveId" clId="{4D374A6F-6CD9-4017-8705-C48B971243CB}" dt="2023-04-05T17:40:03.768" v="306" actId="20577"/>
          <ac:spMkLst>
            <pc:docMk/>
            <pc:sldMk cId="0" sldId="257"/>
            <ac:spMk id="1048593" creationId="{00000000-0000-0000-0000-000000000000}"/>
          </ac:spMkLst>
        </pc:spChg>
      </pc:sldChg>
      <pc:sldChg chg="modSp mod">
        <pc:chgData name="snega" userId="4907e4577d3f62ad" providerId="LiveId" clId="{4D374A6F-6CD9-4017-8705-C48B971243CB}" dt="2023-04-10T13:28:53.922" v="425" actId="1076"/>
        <pc:sldMkLst>
          <pc:docMk/>
          <pc:sldMk cId="0" sldId="258"/>
        </pc:sldMkLst>
        <pc:spChg chg="mod">
          <ac:chgData name="snega" userId="4907e4577d3f62ad" providerId="LiveId" clId="{4D374A6F-6CD9-4017-8705-C48B971243CB}" dt="2023-04-10T13:28:53.922" v="425" actId="1076"/>
          <ac:spMkLst>
            <pc:docMk/>
            <pc:sldMk cId="0" sldId="258"/>
            <ac:spMk id="1048604" creationId="{00000000-0000-0000-0000-000000000000}"/>
          </ac:spMkLst>
        </pc:spChg>
      </pc:sldChg>
      <pc:sldChg chg="modSp mod">
        <pc:chgData name="snega" userId="4907e4577d3f62ad" providerId="LiveId" clId="{4D374A6F-6CD9-4017-8705-C48B971243CB}" dt="2023-04-05T17:44:07.179" v="321" actId="20577"/>
        <pc:sldMkLst>
          <pc:docMk/>
          <pc:sldMk cId="0" sldId="259"/>
        </pc:sldMkLst>
        <pc:spChg chg="mod">
          <ac:chgData name="snega" userId="4907e4577d3f62ad" providerId="LiveId" clId="{4D374A6F-6CD9-4017-8705-C48B971243CB}" dt="2023-04-05T17:44:07.179" v="321" actId="20577"/>
          <ac:spMkLst>
            <pc:docMk/>
            <pc:sldMk cId="0" sldId="259"/>
            <ac:spMk id="1048608" creationId="{00000000-0000-0000-0000-000000000000}"/>
          </ac:spMkLst>
        </pc:spChg>
      </pc:sldChg>
      <pc:sldChg chg="modSp mod">
        <pc:chgData name="snega" userId="4907e4577d3f62ad" providerId="LiveId" clId="{4D374A6F-6CD9-4017-8705-C48B971243CB}" dt="2023-04-05T17:13:38.900" v="196" actId="20577"/>
        <pc:sldMkLst>
          <pc:docMk/>
          <pc:sldMk cId="0" sldId="260"/>
        </pc:sldMkLst>
        <pc:spChg chg="mod">
          <ac:chgData name="snega" userId="4907e4577d3f62ad" providerId="LiveId" clId="{4D374A6F-6CD9-4017-8705-C48B971243CB}" dt="2023-04-05T17:13:38.900" v="196" actId="20577"/>
          <ac:spMkLst>
            <pc:docMk/>
            <pc:sldMk cId="0" sldId="260"/>
            <ac:spMk id="1048610" creationId="{00000000-0000-0000-0000-000000000000}"/>
          </ac:spMkLst>
        </pc:spChg>
      </pc:sldChg>
      <pc:sldChg chg="modSp mod">
        <pc:chgData name="snega" userId="4907e4577d3f62ad" providerId="LiveId" clId="{4D374A6F-6CD9-4017-8705-C48B971243CB}" dt="2023-04-10T13:29:27.135" v="430" actId="20577"/>
        <pc:sldMkLst>
          <pc:docMk/>
          <pc:sldMk cId="0" sldId="265"/>
        </pc:sldMkLst>
        <pc:spChg chg="mod">
          <ac:chgData name="snega" userId="4907e4577d3f62ad" providerId="LiveId" clId="{4D374A6F-6CD9-4017-8705-C48B971243CB}" dt="2023-04-10T13:29:27.135" v="430" actId="20577"/>
          <ac:spMkLst>
            <pc:docMk/>
            <pc:sldMk cId="0" sldId="265"/>
            <ac:spMk id="1048628" creationId="{00000000-0000-0000-0000-000000000000}"/>
          </ac:spMkLst>
        </pc:spChg>
      </pc:sldChg>
      <pc:sldChg chg="modSp mod">
        <pc:chgData name="snega" userId="4907e4577d3f62ad" providerId="LiveId" clId="{4D374A6F-6CD9-4017-8705-C48B971243CB}" dt="2023-04-05T17:16:52.178" v="283" actId="20577"/>
        <pc:sldMkLst>
          <pc:docMk/>
          <pc:sldMk cId="0" sldId="266"/>
        </pc:sldMkLst>
        <pc:spChg chg="mod">
          <ac:chgData name="snega" userId="4907e4577d3f62ad" providerId="LiveId" clId="{4D374A6F-6CD9-4017-8705-C48B971243CB}" dt="2023-04-05T17:16:52.178" v="283" actId="20577"/>
          <ac:spMkLst>
            <pc:docMk/>
            <pc:sldMk cId="0" sldId="266"/>
            <ac:spMk id="1048731" creationId="{00000000-0000-0000-0000-000000000000}"/>
          </ac:spMkLst>
        </pc:spChg>
      </pc:sldChg>
      <pc:sldChg chg="modSp mod">
        <pc:chgData name="snega" userId="4907e4577d3f62ad" providerId="LiveId" clId="{4D374A6F-6CD9-4017-8705-C48B971243CB}" dt="2023-04-05T17:41:49.796" v="316" actId="20577"/>
        <pc:sldMkLst>
          <pc:docMk/>
          <pc:sldMk cId="0" sldId="271"/>
        </pc:sldMkLst>
        <pc:spChg chg="mod">
          <ac:chgData name="snega" userId="4907e4577d3f62ad" providerId="LiveId" clId="{4D374A6F-6CD9-4017-8705-C48B971243CB}" dt="2023-04-05T17:41:49.796" v="316" actId="20577"/>
          <ac:spMkLst>
            <pc:docMk/>
            <pc:sldMk cId="0" sldId="271"/>
            <ac:spMk id="1048739" creationId="{00000000-0000-0000-0000-000000000000}"/>
          </ac:spMkLst>
        </pc:spChg>
      </pc:sldChg>
      <pc:sldChg chg="addSp delSp modSp new mod modClrScheme chgLayout">
        <pc:chgData name="snega" userId="4907e4577d3f62ad" providerId="LiveId" clId="{4D374A6F-6CD9-4017-8705-C48B971243CB}" dt="2023-04-10T13:25:06.506" v="421" actId="313"/>
        <pc:sldMkLst>
          <pc:docMk/>
          <pc:sldMk cId="1907192818" sldId="272"/>
        </pc:sldMkLst>
        <pc:spChg chg="del mod ord">
          <ac:chgData name="snega" userId="4907e4577d3f62ad" providerId="LiveId" clId="{4D374A6F-6CD9-4017-8705-C48B971243CB}" dt="2023-04-10T13:22:11.154" v="334" actId="700"/>
          <ac:spMkLst>
            <pc:docMk/>
            <pc:sldMk cId="1907192818" sldId="272"/>
            <ac:spMk id="2" creationId="{EFAB5151-A798-8006-EE4B-06906DCFA358}"/>
          </ac:spMkLst>
        </pc:spChg>
        <pc:spChg chg="add mod ord">
          <ac:chgData name="snega" userId="4907e4577d3f62ad" providerId="LiveId" clId="{4D374A6F-6CD9-4017-8705-C48B971243CB}" dt="2023-04-10T13:24:53.127" v="419" actId="1076"/>
          <ac:spMkLst>
            <pc:docMk/>
            <pc:sldMk cId="1907192818" sldId="272"/>
            <ac:spMk id="3" creationId="{E2B4A0CF-82CB-DBDB-00DF-032C7D738962}"/>
          </ac:spMkLst>
        </pc:spChg>
        <pc:spChg chg="add mod ord">
          <ac:chgData name="snega" userId="4907e4577d3f62ad" providerId="LiveId" clId="{4D374A6F-6CD9-4017-8705-C48B971243CB}" dt="2023-04-10T13:25:06.506" v="421" actId="313"/>
          <ac:spMkLst>
            <pc:docMk/>
            <pc:sldMk cId="1907192818" sldId="272"/>
            <ac:spMk id="4" creationId="{0F2B94D0-C066-18A1-368B-8B153EB13D4A}"/>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statj\Desktop\2022-2023\Snega_Kezial\Book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statj\Desktop\2022-2023\Snega_Kezial\Book1.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stacked"/>
        <c:varyColors val="0"/>
        <c:ser>
          <c:idx val="0"/>
          <c:order val="0"/>
          <c:spPr>
            <a:solidFill>
              <a:schemeClr val="accent1"/>
            </a:solidFill>
            <a:ln>
              <a:noFill/>
            </a:ln>
            <a:effectLst/>
            <a:sp3d/>
          </c:spPr>
          <c:invertIfNegative val="0"/>
          <c:cat>
            <c:multiLvlStrRef>
              <c:f>Sheet1!$A$3:$B$24</c:f>
              <c:multiLvlStrCache>
                <c:ptCount val="22"/>
                <c:lvl>
                  <c:pt idx="0">
                    <c:v>Male</c:v>
                  </c:pt>
                  <c:pt idx="1">
                    <c:v>Female</c:v>
                  </c:pt>
                  <c:pt idx="2">
                    <c:v>UG</c:v>
                  </c:pt>
                  <c:pt idx="3">
                    <c:v>PG</c:v>
                  </c:pt>
                  <c:pt idx="4">
                    <c:v>Urban</c:v>
                  </c:pt>
                  <c:pt idx="5">
                    <c:v>Rural</c:v>
                  </c:pt>
                  <c:pt idx="6">
                    <c:v>Below 1.25 Lakhs</c:v>
                  </c:pt>
                  <c:pt idx="7">
                    <c:v>1.25 - 5 Lakhs</c:v>
                  </c:pt>
                  <c:pt idx="8">
                    <c:v>5 Lakhs - 30 Lakhs</c:v>
                  </c:pt>
                  <c:pt idx="9">
                    <c:v>More than 30 Lakhs</c:v>
                  </c:pt>
                  <c:pt idx="10">
                    <c:v>Nuclear Family</c:v>
                  </c:pt>
                  <c:pt idx="11">
                    <c:v>Joint Family</c:v>
                  </c:pt>
                  <c:pt idx="12">
                    <c:v>Living Alone</c:v>
                  </c:pt>
                  <c:pt idx="13">
                    <c:v>Yes</c:v>
                  </c:pt>
                  <c:pt idx="14">
                    <c:v>No</c:v>
                  </c:pt>
                  <c:pt idx="15">
                    <c:v>Yes</c:v>
                  </c:pt>
                  <c:pt idx="16">
                    <c:v>No</c:v>
                  </c:pt>
                  <c:pt idx="17">
                    <c:v>O (Above 80)</c:v>
                  </c:pt>
                  <c:pt idx="18">
                    <c:v>A (70-79)</c:v>
                  </c:pt>
                  <c:pt idx="19">
                    <c:v>B (60-69)</c:v>
                  </c:pt>
                  <c:pt idx="20">
                    <c:v>D (50-54)</c:v>
                  </c:pt>
                  <c:pt idx="21">
                    <c:v>E (40-49)</c:v>
                  </c:pt>
                </c:lvl>
                <c:lvl>
                  <c:pt idx="0">
                    <c:v>Gender</c:v>
                  </c:pt>
                  <c:pt idx="2">
                    <c:v>Class</c:v>
                  </c:pt>
                  <c:pt idx="4">
                    <c:v>Urbanity</c:v>
                  </c:pt>
                  <c:pt idx="6">
                    <c:v>Family Annual Income</c:v>
                  </c:pt>
                  <c:pt idx="10">
                    <c:v>Family Type</c:v>
                  </c:pt>
                  <c:pt idx="13">
                    <c:v>Growing up with Parent</c:v>
                  </c:pt>
                  <c:pt idx="15">
                    <c:v>First Graduate in Family</c:v>
                  </c:pt>
                  <c:pt idx="17">
                    <c:v>College Grade</c:v>
                  </c:pt>
                </c:lvl>
              </c:multiLvlStrCache>
            </c:multiLvlStrRef>
          </c:cat>
          <c:val>
            <c:numRef>
              <c:f>Sheet1!$C$3:$C$24</c:f>
              <c:numCache>
                <c:formatCode>0.00%</c:formatCode>
                <c:ptCount val="22"/>
                <c:pt idx="0">
                  <c:v>0.39900000000000002</c:v>
                </c:pt>
                <c:pt idx="1">
                  <c:v>0.60099999999999998</c:v>
                </c:pt>
                <c:pt idx="2">
                  <c:v>0.72099999999999997</c:v>
                </c:pt>
                <c:pt idx="3">
                  <c:v>0.27900000000000003</c:v>
                </c:pt>
                <c:pt idx="4">
                  <c:v>0.81499999999999995</c:v>
                </c:pt>
                <c:pt idx="5">
                  <c:v>0.185</c:v>
                </c:pt>
                <c:pt idx="6">
                  <c:v>0.39100000000000001</c:v>
                </c:pt>
                <c:pt idx="7">
                  <c:v>0.35099999999999998</c:v>
                </c:pt>
                <c:pt idx="8">
                  <c:v>0.246</c:v>
                </c:pt>
                <c:pt idx="9">
                  <c:v>1.0999999999999999E-2</c:v>
                </c:pt>
                <c:pt idx="10">
                  <c:v>0.77900000000000003</c:v>
                </c:pt>
                <c:pt idx="11">
                  <c:v>0.185</c:v>
                </c:pt>
                <c:pt idx="12">
                  <c:v>3.5999999999999997E-2</c:v>
                </c:pt>
                <c:pt idx="13">
                  <c:v>0.90600000000000003</c:v>
                </c:pt>
                <c:pt idx="14">
                  <c:v>9.4E-2</c:v>
                </c:pt>
                <c:pt idx="15">
                  <c:v>0.27900000000000003</c:v>
                </c:pt>
                <c:pt idx="16">
                  <c:v>0.72099999999999997</c:v>
                </c:pt>
                <c:pt idx="17">
                  <c:v>0.372</c:v>
                </c:pt>
                <c:pt idx="18">
                  <c:v>0.38300000000000001</c:v>
                </c:pt>
                <c:pt idx="19">
                  <c:v>0.20100000000000001</c:v>
                </c:pt>
                <c:pt idx="20">
                  <c:v>3.5999999999999997E-2</c:v>
                </c:pt>
                <c:pt idx="21">
                  <c:v>7.0000000000000001E-3</c:v>
                </c:pt>
              </c:numCache>
            </c:numRef>
          </c:val>
          <c:extLst>
            <c:ext xmlns:c16="http://schemas.microsoft.com/office/drawing/2014/chart" uri="{C3380CC4-5D6E-409C-BE32-E72D297353CC}">
              <c16:uniqueId val="{00000000-2ACC-4025-8BC8-82972CB7F5F5}"/>
            </c:ext>
          </c:extLst>
        </c:ser>
        <c:dLbls>
          <c:showLegendKey val="0"/>
          <c:showVal val="0"/>
          <c:showCatName val="0"/>
          <c:showSerName val="0"/>
          <c:showPercent val="0"/>
          <c:showBubbleSize val="0"/>
        </c:dLbls>
        <c:gapWidth val="150"/>
        <c:shape val="box"/>
        <c:axId val="1515628607"/>
        <c:axId val="22840063"/>
        <c:axId val="0"/>
      </c:bar3DChart>
      <c:catAx>
        <c:axId val="1515628607"/>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en-US"/>
          </a:p>
        </c:txPr>
        <c:crossAx val="22840063"/>
        <c:crosses val="autoZero"/>
        <c:auto val="1"/>
        <c:lblAlgn val="ctr"/>
        <c:lblOffset val="100"/>
        <c:noMultiLvlLbl val="0"/>
      </c:catAx>
      <c:valAx>
        <c:axId val="22840063"/>
        <c:scaling>
          <c:orientation val="minMax"/>
        </c:scaling>
        <c:delete val="0"/>
        <c:axPos val="l"/>
        <c:majorGridlines>
          <c:spPr>
            <a:ln w="9525" cap="flat" cmpd="sng" algn="ctr">
              <a:no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en-US"/>
          </a:p>
        </c:txPr>
        <c:crossAx val="151562860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600"/>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Sheet2!$C$1</c:f>
              <c:strCache>
                <c:ptCount val="1"/>
                <c:pt idx="0">
                  <c:v>No Exposure</c:v>
                </c:pt>
              </c:strCache>
            </c:strRef>
          </c:tx>
          <c:spPr>
            <a:solidFill>
              <a:schemeClr val="accent1"/>
            </a:solidFill>
            <a:ln>
              <a:noFill/>
            </a:ln>
            <a:effectLst/>
          </c:spPr>
          <c:invertIfNegative val="0"/>
          <c:cat>
            <c:strRef>
              <c:f>Sheet2!$B$2:$B$23</c:f>
              <c:strCache>
                <c:ptCount val="22"/>
                <c:pt idx="0">
                  <c:v>Male</c:v>
                </c:pt>
                <c:pt idx="1">
                  <c:v>Female</c:v>
                </c:pt>
                <c:pt idx="2">
                  <c:v>UG</c:v>
                </c:pt>
                <c:pt idx="3">
                  <c:v>PG</c:v>
                </c:pt>
                <c:pt idx="4">
                  <c:v>Urban</c:v>
                </c:pt>
                <c:pt idx="5">
                  <c:v>Rural</c:v>
                </c:pt>
                <c:pt idx="6">
                  <c:v>Below 1.25 Lakhs</c:v>
                </c:pt>
                <c:pt idx="7">
                  <c:v>1.25 - 5 Lakhs</c:v>
                </c:pt>
                <c:pt idx="8">
                  <c:v>5 Lakhs - 30 Lakhs</c:v>
                </c:pt>
                <c:pt idx="9">
                  <c:v>More than 30 Lakhs</c:v>
                </c:pt>
                <c:pt idx="10">
                  <c:v>Nuclear Family</c:v>
                </c:pt>
                <c:pt idx="11">
                  <c:v>Joint Family</c:v>
                </c:pt>
                <c:pt idx="12">
                  <c:v>Living Alone</c:v>
                </c:pt>
                <c:pt idx="13">
                  <c:v>Yes</c:v>
                </c:pt>
                <c:pt idx="14">
                  <c:v>No</c:v>
                </c:pt>
                <c:pt idx="15">
                  <c:v>Yes</c:v>
                </c:pt>
                <c:pt idx="16">
                  <c:v>No</c:v>
                </c:pt>
                <c:pt idx="17">
                  <c:v>O (Above 80)</c:v>
                </c:pt>
                <c:pt idx="18">
                  <c:v>A (70-79)</c:v>
                </c:pt>
                <c:pt idx="19">
                  <c:v>B (60-69)</c:v>
                </c:pt>
                <c:pt idx="20">
                  <c:v>D (50-54)</c:v>
                </c:pt>
                <c:pt idx="21">
                  <c:v>E (40-49)</c:v>
                </c:pt>
              </c:strCache>
            </c:strRef>
          </c:cat>
          <c:val>
            <c:numRef>
              <c:f>Sheet2!$C$2:$C$23</c:f>
              <c:numCache>
                <c:formatCode>###0</c:formatCode>
                <c:ptCount val="22"/>
                <c:pt idx="0">
                  <c:v>53</c:v>
                </c:pt>
                <c:pt idx="1">
                  <c:v>81</c:v>
                </c:pt>
                <c:pt idx="2">
                  <c:v>92</c:v>
                </c:pt>
                <c:pt idx="3">
                  <c:v>42</c:v>
                </c:pt>
                <c:pt idx="4">
                  <c:v>107</c:v>
                </c:pt>
                <c:pt idx="5">
                  <c:v>27</c:v>
                </c:pt>
                <c:pt idx="6">
                  <c:v>53</c:v>
                </c:pt>
                <c:pt idx="7">
                  <c:v>49</c:v>
                </c:pt>
                <c:pt idx="8">
                  <c:v>31</c:v>
                </c:pt>
                <c:pt idx="9">
                  <c:v>1</c:v>
                </c:pt>
                <c:pt idx="10">
                  <c:v>108</c:v>
                </c:pt>
                <c:pt idx="11">
                  <c:v>24</c:v>
                </c:pt>
                <c:pt idx="12">
                  <c:v>2</c:v>
                </c:pt>
                <c:pt idx="13">
                  <c:v>124</c:v>
                </c:pt>
                <c:pt idx="14">
                  <c:v>10</c:v>
                </c:pt>
                <c:pt idx="15">
                  <c:v>31</c:v>
                </c:pt>
                <c:pt idx="16">
                  <c:v>103</c:v>
                </c:pt>
                <c:pt idx="17">
                  <c:v>55</c:v>
                </c:pt>
                <c:pt idx="18">
                  <c:v>54</c:v>
                </c:pt>
                <c:pt idx="19">
                  <c:v>20</c:v>
                </c:pt>
                <c:pt idx="20">
                  <c:v>4</c:v>
                </c:pt>
                <c:pt idx="21">
                  <c:v>0</c:v>
                </c:pt>
              </c:numCache>
            </c:numRef>
          </c:val>
          <c:extLst>
            <c:ext xmlns:c16="http://schemas.microsoft.com/office/drawing/2014/chart" uri="{C3380CC4-5D6E-409C-BE32-E72D297353CC}">
              <c16:uniqueId val="{00000000-85CD-41FA-AD04-D7B9B491C4A1}"/>
            </c:ext>
          </c:extLst>
        </c:ser>
        <c:ser>
          <c:idx val="1"/>
          <c:order val="1"/>
          <c:tx>
            <c:strRef>
              <c:f>Sheet2!$D$1</c:f>
              <c:strCache>
                <c:ptCount val="1"/>
                <c:pt idx="0">
                  <c:v>Low Exposure</c:v>
                </c:pt>
              </c:strCache>
            </c:strRef>
          </c:tx>
          <c:spPr>
            <a:solidFill>
              <a:schemeClr val="accent2"/>
            </a:solidFill>
            <a:ln>
              <a:noFill/>
            </a:ln>
            <a:effectLst/>
          </c:spPr>
          <c:invertIfNegative val="0"/>
          <c:cat>
            <c:strRef>
              <c:f>Sheet2!$B$2:$B$23</c:f>
              <c:strCache>
                <c:ptCount val="22"/>
                <c:pt idx="0">
                  <c:v>Male</c:v>
                </c:pt>
                <c:pt idx="1">
                  <c:v>Female</c:v>
                </c:pt>
                <c:pt idx="2">
                  <c:v>UG</c:v>
                </c:pt>
                <c:pt idx="3">
                  <c:v>PG</c:v>
                </c:pt>
                <c:pt idx="4">
                  <c:v>Urban</c:v>
                </c:pt>
                <c:pt idx="5">
                  <c:v>Rural</c:v>
                </c:pt>
                <c:pt idx="6">
                  <c:v>Below 1.25 Lakhs</c:v>
                </c:pt>
                <c:pt idx="7">
                  <c:v>1.25 - 5 Lakhs</c:v>
                </c:pt>
                <c:pt idx="8">
                  <c:v>5 Lakhs - 30 Lakhs</c:v>
                </c:pt>
                <c:pt idx="9">
                  <c:v>More than 30 Lakhs</c:v>
                </c:pt>
                <c:pt idx="10">
                  <c:v>Nuclear Family</c:v>
                </c:pt>
                <c:pt idx="11">
                  <c:v>Joint Family</c:v>
                </c:pt>
                <c:pt idx="12">
                  <c:v>Living Alone</c:v>
                </c:pt>
                <c:pt idx="13">
                  <c:v>Yes</c:v>
                </c:pt>
                <c:pt idx="14">
                  <c:v>No</c:v>
                </c:pt>
                <c:pt idx="15">
                  <c:v>Yes</c:v>
                </c:pt>
                <c:pt idx="16">
                  <c:v>No</c:v>
                </c:pt>
                <c:pt idx="17">
                  <c:v>O (Above 80)</c:v>
                </c:pt>
                <c:pt idx="18">
                  <c:v>A (70-79)</c:v>
                </c:pt>
                <c:pt idx="19">
                  <c:v>B (60-69)</c:v>
                </c:pt>
                <c:pt idx="20">
                  <c:v>D (50-54)</c:v>
                </c:pt>
                <c:pt idx="21">
                  <c:v>E (40-49)</c:v>
                </c:pt>
              </c:strCache>
            </c:strRef>
          </c:cat>
          <c:val>
            <c:numRef>
              <c:f>Sheet2!$D$2:$D$23</c:f>
              <c:numCache>
                <c:formatCode>###0</c:formatCode>
                <c:ptCount val="22"/>
                <c:pt idx="0">
                  <c:v>46</c:v>
                </c:pt>
                <c:pt idx="1">
                  <c:v>62</c:v>
                </c:pt>
                <c:pt idx="2">
                  <c:v>83</c:v>
                </c:pt>
                <c:pt idx="3">
                  <c:v>25</c:v>
                </c:pt>
                <c:pt idx="4">
                  <c:v>92</c:v>
                </c:pt>
                <c:pt idx="5">
                  <c:v>16</c:v>
                </c:pt>
                <c:pt idx="6">
                  <c:v>44</c:v>
                </c:pt>
                <c:pt idx="7">
                  <c:v>34</c:v>
                </c:pt>
                <c:pt idx="8">
                  <c:v>29</c:v>
                </c:pt>
                <c:pt idx="9">
                  <c:v>1</c:v>
                </c:pt>
                <c:pt idx="10">
                  <c:v>84</c:v>
                </c:pt>
                <c:pt idx="11">
                  <c:v>20</c:v>
                </c:pt>
                <c:pt idx="12">
                  <c:v>4</c:v>
                </c:pt>
                <c:pt idx="13">
                  <c:v>96</c:v>
                </c:pt>
                <c:pt idx="14">
                  <c:v>12</c:v>
                </c:pt>
                <c:pt idx="15">
                  <c:v>30</c:v>
                </c:pt>
                <c:pt idx="16">
                  <c:v>78</c:v>
                </c:pt>
                <c:pt idx="17">
                  <c:v>32</c:v>
                </c:pt>
                <c:pt idx="18">
                  <c:v>39</c:v>
                </c:pt>
                <c:pt idx="19">
                  <c:v>30</c:v>
                </c:pt>
                <c:pt idx="20">
                  <c:v>5</c:v>
                </c:pt>
                <c:pt idx="21">
                  <c:v>1</c:v>
                </c:pt>
              </c:numCache>
            </c:numRef>
          </c:val>
          <c:extLst>
            <c:ext xmlns:c16="http://schemas.microsoft.com/office/drawing/2014/chart" uri="{C3380CC4-5D6E-409C-BE32-E72D297353CC}">
              <c16:uniqueId val="{00000001-85CD-41FA-AD04-D7B9B491C4A1}"/>
            </c:ext>
          </c:extLst>
        </c:ser>
        <c:ser>
          <c:idx val="2"/>
          <c:order val="2"/>
          <c:tx>
            <c:strRef>
              <c:f>Sheet2!$E$1</c:f>
              <c:strCache>
                <c:ptCount val="1"/>
                <c:pt idx="0">
                  <c:v>Moderate Exposure</c:v>
                </c:pt>
              </c:strCache>
            </c:strRef>
          </c:tx>
          <c:spPr>
            <a:solidFill>
              <a:schemeClr val="accent3"/>
            </a:solidFill>
            <a:ln>
              <a:noFill/>
            </a:ln>
            <a:effectLst/>
          </c:spPr>
          <c:invertIfNegative val="0"/>
          <c:cat>
            <c:strRef>
              <c:f>Sheet2!$B$2:$B$23</c:f>
              <c:strCache>
                <c:ptCount val="22"/>
                <c:pt idx="0">
                  <c:v>Male</c:v>
                </c:pt>
                <c:pt idx="1">
                  <c:v>Female</c:v>
                </c:pt>
                <c:pt idx="2">
                  <c:v>UG</c:v>
                </c:pt>
                <c:pt idx="3">
                  <c:v>PG</c:v>
                </c:pt>
                <c:pt idx="4">
                  <c:v>Urban</c:v>
                </c:pt>
                <c:pt idx="5">
                  <c:v>Rural</c:v>
                </c:pt>
                <c:pt idx="6">
                  <c:v>Below 1.25 Lakhs</c:v>
                </c:pt>
                <c:pt idx="7">
                  <c:v>1.25 - 5 Lakhs</c:v>
                </c:pt>
                <c:pt idx="8">
                  <c:v>5 Lakhs - 30 Lakhs</c:v>
                </c:pt>
                <c:pt idx="9">
                  <c:v>More than 30 Lakhs</c:v>
                </c:pt>
                <c:pt idx="10">
                  <c:v>Nuclear Family</c:v>
                </c:pt>
                <c:pt idx="11">
                  <c:v>Joint Family</c:v>
                </c:pt>
                <c:pt idx="12">
                  <c:v>Living Alone</c:v>
                </c:pt>
                <c:pt idx="13">
                  <c:v>Yes</c:v>
                </c:pt>
                <c:pt idx="14">
                  <c:v>No</c:v>
                </c:pt>
                <c:pt idx="15">
                  <c:v>Yes</c:v>
                </c:pt>
                <c:pt idx="16">
                  <c:v>No</c:v>
                </c:pt>
                <c:pt idx="17">
                  <c:v>O (Above 80)</c:v>
                </c:pt>
                <c:pt idx="18">
                  <c:v>A (70-79)</c:v>
                </c:pt>
                <c:pt idx="19">
                  <c:v>B (60-69)</c:v>
                </c:pt>
                <c:pt idx="20">
                  <c:v>D (50-54)</c:v>
                </c:pt>
                <c:pt idx="21">
                  <c:v>E (40-49)</c:v>
                </c:pt>
              </c:strCache>
            </c:strRef>
          </c:cat>
          <c:val>
            <c:numRef>
              <c:f>Sheet2!$E$2:$E$23</c:f>
              <c:numCache>
                <c:formatCode>###0</c:formatCode>
                <c:ptCount val="22"/>
                <c:pt idx="0">
                  <c:v>9</c:v>
                </c:pt>
                <c:pt idx="1">
                  <c:v>15</c:v>
                </c:pt>
                <c:pt idx="2">
                  <c:v>17</c:v>
                </c:pt>
                <c:pt idx="3">
                  <c:v>7</c:v>
                </c:pt>
                <c:pt idx="4">
                  <c:v>17</c:v>
                </c:pt>
                <c:pt idx="5">
                  <c:v>7</c:v>
                </c:pt>
                <c:pt idx="6">
                  <c:v>8</c:v>
                </c:pt>
                <c:pt idx="7">
                  <c:v>11</c:v>
                </c:pt>
                <c:pt idx="8">
                  <c:v>4</c:v>
                </c:pt>
                <c:pt idx="9">
                  <c:v>1</c:v>
                </c:pt>
                <c:pt idx="10">
                  <c:v>18</c:v>
                </c:pt>
                <c:pt idx="11">
                  <c:v>3</c:v>
                </c:pt>
                <c:pt idx="12">
                  <c:v>3</c:v>
                </c:pt>
                <c:pt idx="13">
                  <c:v>22</c:v>
                </c:pt>
                <c:pt idx="14">
                  <c:v>2</c:v>
                </c:pt>
                <c:pt idx="15">
                  <c:v>10</c:v>
                </c:pt>
                <c:pt idx="16">
                  <c:v>14</c:v>
                </c:pt>
                <c:pt idx="17">
                  <c:v>9</c:v>
                </c:pt>
                <c:pt idx="18">
                  <c:v>9</c:v>
                </c:pt>
                <c:pt idx="19">
                  <c:v>5</c:v>
                </c:pt>
                <c:pt idx="20">
                  <c:v>0</c:v>
                </c:pt>
                <c:pt idx="21">
                  <c:v>1</c:v>
                </c:pt>
              </c:numCache>
            </c:numRef>
          </c:val>
          <c:extLst>
            <c:ext xmlns:c16="http://schemas.microsoft.com/office/drawing/2014/chart" uri="{C3380CC4-5D6E-409C-BE32-E72D297353CC}">
              <c16:uniqueId val="{00000002-85CD-41FA-AD04-D7B9B491C4A1}"/>
            </c:ext>
          </c:extLst>
        </c:ser>
        <c:ser>
          <c:idx val="3"/>
          <c:order val="3"/>
          <c:tx>
            <c:strRef>
              <c:f>Sheet2!$F$1</c:f>
              <c:strCache>
                <c:ptCount val="1"/>
                <c:pt idx="0">
                  <c:v>High Exposure</c:v>
                </c:pt>
              </c:strCache>
            </c:strRef>
          </c:tx>
          <c:spPr>
            <a:solidFill>
              <a:schemeClr val="accent4"/>
            </a:solidFill>
            <a:ln>
              <a:noFill/>
            </a:ln>
            <a:effectLst/>
          </c:spPr>
          <c:invertIfNegative val="0"/>
          <c:cat>
            <c:strRef>
              <c:f>Sheet2!$B$2:$B$23</c:f>
              <c:strCache>
                <c:ptCount val="22"/>
                <c:pt idx="0">
                  <c:v>Male</c:v>
                </c:pt>
                <c:pt idx="1">
                  <c:v>Female</c:v>
                </c:pt>
                <c:pt idx="2">
                  <c:v>UG</c:v>
                </c:pt>
                <c:pt idx="3">
                  <c:v>PG</c:v>
                </c:pt>
                <c:pt idx="4">
                  <c:v>Urban</c:v>
                </c:pt>
                <c:pt idx="5">
                  <c:v>Rural</c:v>
                </c:pt>
                <c:pt idx="6">
                  <c:v>Below 1.25 Lakhs</c:v>
                </c:pt>
                <c:pt idx="7">
                  <c:v>1.25 - 5 Lakhs</c:v>
                </c:pt>
                <c:pt idx="8">
                  <c:v>5 Lakhs - 30 Lakhs</c:v>
                </c:pt>
                <c:pt idx="9">
                  <c:v>More than 30 Lakhs</c:v>
                </c:pt>
                <c:pt idx="10">
                  <c:v>Nuclear Family</c:v>
                </c:pt>
                <c:pt idx="11">
                  <c:v>Joint Family</c:v>
                </c:pt>
                <c:pt idx="12">
                  <c:v>Living Alone</c:v>
                </c:pt>
                <c:pt idx="13">
                  <c:v>Yes</c:v>
                </c:pt>
                <c:pt idx="14">
                  <c:v>No</c:v>
                </c:pt>
                <c:pt idx="15">
                  <c:v>Yes</c:v>
                </c:pt>
                <c:pt idx="16">
                  <c:v>No</c:v>
                </c:pt>
                <c:pt idx="17">
                  <c:v>O (Above 80)</c:v>
                </c:pt>
                <c:pt idx="18">
                  <c:v>A (70-79)</c:v>
                </c:pt>
                <c:pt idx="19">
                  <c:v>B (60-69)</c:v>
                </c:pt>
                <c:pt idx="20">
                  <c:v>D (50-54)</c:v>
                </c:pt>
                <c:pt idx="21">
                  <c:v>E (40-49)</c:v>
                </c:pt>
              </c:strCache>
            </c:strRef>
          </c:cat>
          <c:val>
            <c:numRef>
              <c:f>Sheet2!$F$2:$F$23</c:f>
              <c:numCache>
                <c:formatCode>###0</c:formatCode>
                <c:ptCount val="22"/>
                <c:pt idx="0">
                  <c:v>2</c:v>
                </c:pt>
                <c:pt idx="1">
                  <c:v>8</c:v>
                </c:pt>
                <c:pt idx="2">
                  <c:v>7</c:v>
                </c:pt>
                <c:pt idx="3">
                  <c:v>3</c:v>
                </c:pt>
                <c:pt idx="4">
                  <c:v>9</c:v>
                </c:pt>
                <c:pt idx="5">
                  <c:v>1</c:v>
                </c:pt>
                <c:pt idx="6">
                  <c:v>3</c:v>
                </c:pt>
                <c:pt idx="7">
                  <c:v>3</c:v>
                </c:pt>
                <c:pt idx="8">
                  <c:v>4</c:v>
                </c:pt>
                <c:pt idx="9">
                  <c:v>0</c:v>
                </c:pt>
                <c:pt idx="10">
                  <c:v>5</c:v>
                </c:pt>
                <c:pt idx="11">
                  <c:v>4</c:v>
                </c:pt>
                <c:pt idx="12">
                  <c:v>1</c:v>
                </c:pt>
                <c:pt idx="13">
                  <c:v>8</c:v>
                </c:pt>
                <c:pt idx="14">
                  <c:v>2</c:v>
                </c:pt>
                <c:pt idx="15">
                  <c:v>6</c:v>
                </c:pt>
                <c:pt idx="16">
                  <c:v>4</c:v>
                </c:pt>
                <c:pt idx="17">
                  <c:v>6</c:v>
                </c:pt>
                <c:pt idx="18">
                  <c:v>3</c:v>
                </c:pt>
                <c:pt idx="19">
                  <c:v>0</c:v>
                </c:pt>
                <c:pt idx="20">
                  <c:v>1</c:v>
                </c:pt>
                <c:pt idx="21">
                  <c:v>0</c:v>
                </c:pt>
              </c:numCache>
            </c:numRef>
          </c:val>
          <c:extLst>
            <c:ext xmlns:c16="http://schemas.microsoft.com/office/drawing/2014/chart" uri="{C3380CC4-5D6E-409C-BE32-E72D297353CC}">
              <c16:uniqueId val="{00000003-85CD-41FA-AD04-D7B9B491C4A1}"/>
            </c:ext>
          </c:extLst>
        </c:ser>
        <c:dLbls>
          <c:showLegendKey val="0"/>
          <c:showVal val="0"/>
          <c:showCatName val="0"/>
          <c:showSerName val="0"/>
          <c:showPercent val="0"/>
          <c:showBubbleSize val="0"/>
        </c:dLbls>
        <c:gapWidth val="150"/>
        <c:overlap val="100"/>
        <c:axId val="171293679"/>
        <c:axId val="1515896383"/>
      </c:barChart>
      <c:catAx>
        <c:axId val="171293679"/>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15896383"/>
        <c:crosses val="autoZero"/>
        <c:auto val="1"/>
        <c:lblAlgn val="ctr"/>
        <c:lblOffset val="100"/>
        <c:noMultiLvlLbl val="0"/>
      </c:catAx>
      <c:valAx>
        <c:axId val="1515896383"/>
        <c:scaling>
          <c:orientation val="minMax"/>
        </c:scaling>
        <c:delete val="0"/>
        <c:axPos val="b"/>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129367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1048729"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730"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1048597"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598" name="Google Shape;8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1048605" name="Google Shape;86;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606" name="Google Shape;87;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048611" name="Google Shape;120;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612" name="Google Shape;121;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048631" name="Google Shape;13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632" name="Google Shape;133;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33" name="Title 1"/>
          <p:cNvSpPr>
            <a:spLocks noGrp="1"/>
          </p:cNvSpPr>
          <p:nvPr>
            <p:ph type="ctrTitle"/>
          </p:nvPr>
        </p:nvSpPr>
        <p:spPr>
          <a:xfrm>
            <a:off x="866442" y="1447801"/>
            <a:ext cx="6620968" cy="3329581"/>
          </a:xfrm>
        </p:spPr>
        <p:txBody>
          <a:bodyPr anchor="b"/>
          <a:lstStyle>
            <a:lvl1pPr>
              <a:defRPr sz="7200"/>
            </a:lvl1pPr>
          </a:lstStyle>
          <a:p>
            <a:r>
              <a:rPr lang="en-US"/>
              <a:t>Click to edit Master title style</a:t>
            </a:r>
            <a:endParaRPr lang="en-US" dirty="0"/>
          </a:p>
        </p:txBody>
      </p:sp>
      <p:sp>
        <p:nvSpPr>
          <p:cNvPr id="1048634"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048635" name="Date Placeholder 3"/>
          <p:cNvSpPr>
            <a:spLocks noGrp="1"/>
          </p:cNvSpPr>
          <p:nvPr>
            <p:ph type="dt" sz="half" idx="10"/>
          </p:nvPr>
        </p:nvSpPr>
        <p:spPr/>
        <p:txBody>
          <a:bodyPr/>
          <a:lstStyle/>
          <a:p>
            <a:endParaRPr lang="en-IN"/>
          </a:p>
        </p:txBody>
      </p:sp>
      <p:sp>
        <p:nvSpPr>
          <p:cNvPr id="1048636" name="Footer Placeholder 4"/>
          <p:cNvSpPr>
            <a:spLocks noGrp="1"/>
          </p:cNvSpPr>
          <p:nvPr>
            <p:ph type="ftr" sz="quarter" idx="11"/>
          </p:nvPr>
        </p:nvSpPr>
        <p:spPr/>
        <p:txBody>
          <a:bodyPr/>
          <a:lstStyle/>
          <a:p>
            <a:endParaRPr lang="en-IN"/>
          </a:p>
        </p:txBody>
      </p:sp>
      <p:sp>
        <p:nvSpPr>
          <p:cNvPr id="1048637"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691" name="Title 1"/>
          <p:cNvSpPr>
            <a:spLocks noGrp="1"/>
          </p:cNvSpPr>
          <p:nvPr>
            <p:ph type="title"/>
          </p:nvPr>
        </p:nvSpPr>
        <p:spPr/>
        <p:txBody>
          <a:bodyPr/>
          <a:lstStyle/>
          <a:p>
            <a:r>
              <a:rPr lang="en-US"/>
              <a:t>Click to edit Master title style</a:t>
            </a:r>
            <a:endParaRPr lang="en-US" dirty="0"/>
          </a:p>
        </p:txBody>
      </p:sp>
      <p:sp>
        <p:nvSpPr>
          <p:cNvPr id="1048692"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93" name="Date Placeholder 3"/>
          <p:cNvSpPr>
            <a:spLocks noGrp="1"/>
          </p:cNvSpPr>
          <p:nvPr>
            <p:ph type="dt" sz="half" idx="10"/>
          </p:nvPr>
        </p:nvSpPr>
        <p:spPr/>
        <p:txBody>
          <a:bodyPr/>
          <a:lstStyle/>
          <a:p>
            <a:endParaRPr lang="en-IN"/>
          </a:p>
        </p:txBody>
      </p:sp>
      <p:sp>
        <p:nvSpPr>
          <p:cNvPr id="1048694" name="Footer Placeholder 4"/>
          <p:cNvSpPr>
            <a:spLocks noGrp="1"/>
          </p:cNvSpPr>
          <p:nvPr>
            <p:ph type="ftr" sz="quarter" idx="11"/>
          </p:nvPr>
        </p:nvSpPr>
        <p:spPr/>
        <p:txBody>
          <a:bodyPr/>
          <a:lstStyle/>
          <a:p>
            <a:endParaRPr lang="en-IN"/>
          </a:p>
        </p:txBody>
      </p:sp>
      <p:sp>
        <p:nvSpPr>
          <p:cNvPr id="1048695"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587" name="Title 1"/>
          <p:cNvSpPr>
            <a:spLocks noGrp="1"/>
          </p:cNvSpPr>
          <p:nvPr>
            <p:ph type="title"/>
          </p:nvPr>
        </p:nvSpPr>
        <p:spPr>
          <a:xfrm>
            <a:off x="866443" y="2861734"/>
            <a:ext cx="6620967" cy="1915647"/>
          </a:xfrm>
        </p:spPr>
        <p:txBody>
          <a:bodyPr anchor="b"/>
          <a:lstStyle>
            <a:lvl1pPr algn="l">
              <a:defRPr sz="4000" b="0" cap="none"/>
            </a:lvl1pPr>
          </a:lstStyle>
          <a:p>
            <a:r>
              <a:rPr lang="en-US"/>
              <a:t>Click to edit Master title style</a:t>
            </a:r>
            <a:endParaRPr lang="en-US" dirty="0"/>
          </a:p>
        </p:txBody>
      </p:sp>
      <p:sp>
        <p:nvSpPr>
          <p:cNvPr id="1048588"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589" name="Date Placeholder 3"/>
          <p:cNvSpPr>
            <a:spLocks noGrp="1"/>
          </p:cNvSpPr>
          <p:nvPr>
            <p:ph type="dt" sz="half" idx="10"/>
          </p:nvPr>
        </p:nvSpPr>
        <p:spPr/>
        <p:txBody>
          <a:bodyPr/>
          <a:lstStyle/>
          <a:p>
            <a:endParaRPr lang="en-IN"/>
          </a:p>
        </p:txBody>
      </p:sp>
      <p:sp>
        <p:nvSpPr>
          <p:cNvPr id="1048590" name="Footer Placeholder 4"/>
          <p:cNvSpPr>
            <a:spLocks noGrp="1"/>
          </p:cNvSpPr>
          <p:nvPr>
            <p:ph type="ftr" sz="quarter" idx="11"/>
          </p:nvPr>
        </p:nvSpPr>
        <p:spPr/>
        <p:txBody>
          <a:bodyPr/>
          <a:lstStyle/>
          <a:p>
            <a:endParaRPr lang="en-IN"/>
          </a:p>
        </p:txBody>
      </p:sp>
      <p:sp>
        <p:nvSpPr>
          <p:cNvPr id="1048591"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02" name="Title 1"/>
          <p:cNvSpPr>
            <a:spLocks noGrp="1"/>
          </p:cNvSpPr>
          <p:nvPr>
            <p:ph type="title"/>
          </p:nvPr>
        </p:nvSpPr>
        <p:spPr/>
        <p:txBody>
          <a:bodyPr/>
          <a:lstStyle/>
          <a:p>
            <a:r>
              <a:rPr lang="en-US"/>
              <a:t>Click to edit Master title style</a:t>
            </a:r>
            <a:endParaRPr lang="en-US" dirty="0"/>
          </a:p>
        </p:txBody>
      </p:sp>
      <p:sp>
        <p:nvSpPr>
          <p:cNvPr id="104870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0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05" name="Date Placeholder 4"/>
          <p:cNvSpPr>
            <a:spLocks noGrp="1"/>
          </p:cNvSpPr>
          <p:nvPr>
            <p:ph type="dt" sz="half" idx="10"/>
          </p:nvPr>
        </p:nvSpPr>
        <p:spPr/>
        <p:txBody>
          <a:bodyPr/>
          <a:lstStyle/>
          <a:p>
            <a:endParaRPr lang="en-IN"/>
          </a:p>
        </p:txBody>
      </p:sp>
      <p:sp>
        <p:nvSpPr>
          <p:cNvPr id="1048706" name="Footer Placeholder 5"/>
          <p:cNvSpPr>
            <a:spLocks noGrp="1"/>
          </p:cNvSpPr>
          <p:nvPr>
            <p:ph type="ftr" sz="quarter" idx="11"/>
          </p:nvPr>
        </p:nvSpPr>
        <p:spPr/>
        <p:txBody>
          <a:bodyPr/>
          <a:lstStyle/>
          <a:p>
            <a:endParaRPr lang="en-IN"/>
          </a:p>
        </p:txBody>
      </p:sp>
      <p:sp>
        <p:nvSpPr>
          <p:cNvPr id="104870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67" name="Title 1"/>
          <p:cNvSpPr>
            <a:spLocks noGrp="1"/>
          </p:cNvSpPr>
          <p:nvPr>
            <p:ph type="title"/>
          </p:nvPr>
        </p:nvSpPr>
        <p:spPr/>
        <p:txBody>
          <a:bodyPr/>
          <a:lstStyle/>
          <a:p>
            <a:r>
              <a:rPr lang="en-US"/>
              <a:t>Click to edit Master title style</a:t>
            </a:r>
            <a:endParaRPr lang="en-US" dirty="0"/>
          </a:p>
        </p:txBody>
      </p:sp>
      <p:sp>
        <p:nvSpPr>
          <p:cNvPr id="1048668"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9"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70"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71"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72" name="Date Placeholder 6"/>
          <p:cNvSpPr>
            <a:spLocks noGrp="1"/>
          </p:cNvSpPr>
          <p:nvPr>
            <p:ph type="dt" sz="half" idx="10"/>
          </p:nvPr>
        </p:nvSpPr>
        <p:spPr/>
        <p:txBody>
          <a:bodyPr/>
          <a:lstStyle/>
          <a:p>
            <a:endParaRPr lang="en-IN"/>
          </a:p>
        </p:txBody>
      </p:sp>
      <p:sp>
        <p:nvSpPr>
          <p:cNvPr id="1048673" name="Footer Placeholder 7"/>
          <p:cNvSpPr>
            <a:spLocks noGrp="1"/>
          </p:cNvSpPr>
          <p:nvPr>
            <p:ph type="ftr" sz="quarter" idx="11"/>
          </p:nvPr>
        </p:nvSpPr>
        <p:spPr/>
        <p:txBody>
          <a:bodyPr/>
          <a:lstStyle/>
          <a:p>
            <a:endParaRPr lang="en-IN"/>
          </a:p>
        </p:txBody>
      </p:sp>
      <p:sp>
        <p:nvSpPr>
          <p:cNvPr id="1048674"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599" name="Title 1"/>
          <p:cNvSpPr>
            <a:spLocks noGrp="1"/>
          </p:cNvSpPr>
          <p:nvPr>
            <p:ph type="title"/>
          </p:nvPr>
        </p:nvSpPr>
        <p:spPr/>
        <p:txBody>
          <a:bodyPr/>
          <a:lstStyle/>
          <a:p>
            <a:r>
              <a:rPr lang="en-US"/>
              <a:t>Click to edit Master title style</a:t>
            </a:r>
            <a:endParaRPr lang="en-US" dirty="0"/>
          </a:p>
        </p:txBody>
      </p:sp>
      <p:sp>
        <p:nvSpPr>
          <p:cNvPr id="1048600" name="Date Placeholder 2"/>
          <p:cNvSpPr>
            <a:spLocks noGrp="1"/>
          </p:cNvSpPr>
          <p:nvPr>
            <p:ph type="dt" sz="half" idx="10"/>
          </p:nvPr>
        </p:nvSpPr>
        <p:spPr/>
        <p:txBody>
          <a:bodyPr/>
          <a:lstStyle/>
          <a:p>
            <a:endParaRPr lang="en-IN"/>
          </a:p>
        </p:txBody>
      </p:sp>
      <p:sp>
        <p:nvSpPr>
          <p:cNvPr id="1048601" name="Footer Placeholder 3"/>
          <p:cNvSpPr>
            <a:spLocks noGrp="1"/>
          </p:cNvSpPr>
          <p:nvPr>
            <p:ph type="ftr" sz="quarter" idx="11"/>
          </p:nvPr>
        </p:nvSpPr>
        <p:spPr/>
        <p:txBody>
          <a:bodyPr/>
          <a:lstStyle/>
          <a:p>
            <a:endParaRPr lang="en-IN"/>
          </a:p>
        </p:txBody>
      </p:sp>
      <p:sp>
        <p:nvSpPr>
          <p:cNvPr id="1048602"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75" name="Date Placeholder 1"/>
          <p:cNvSpPr>
            <a:spLocks noGrp="1"/>
          </p:cNvSpPr>
          <p:nvPr>
            <p:ph type="dt" sz="half" idx="10"/>
          </p:nvPr>
        </p:nvSpPr>
        <p:spPr/>
        <p:txBody>
          <a:bodyPr/>
          <a:lstStyle/>
          <a:p>
            <a:endParaRPr lang="en-IN"/>
          </a:p>
        </p:txBody>
      </p:sp>
      <p:sp>
        <p:nvSpPr>
          <p:cNvPr id="1048676" name="Footer Placeholder 2"/>
          <p:cNvSpPr>
            <a:spLocks noGrp="1"/>
          </p:cNvSpPr>
          <p:nvPr>
            <p:ph type="ftr" sz="quarter" idx="11"/>
          </p:nvPr>
        </p:nvSpPr>
        <p:spPr/>
        <p:txBody>
          <a:bodyPr/>
          <a:lstStyle/>
          <a:p>
            <a:endParaRPr lang="en-IN"/>
          </a:p>
        </p:txBody>
      </p:sp>
      <p:sp>
        <p:nvSpPr>
          <p:cNvPr id="1048677"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18" name="Title 1"/>
          <p:cNvSpPr>
            <a:spLocks noGrp="1"/>
          </p:cNvSpPr>
          <p:nvPr>
            <p:ph type="title"/>
          </p:nvPr>
        </p:nvSpPr>
        <p:spPr>
          <a:xfrm>
            <a:off x="866441" y="1447800"/>
            <a:ext cx="2551462" cy="1447800"/>
          </a:xfrm>
        </p:spPr>
        <p:txBody>
          <a:bodyPr anchor="b"/>
          <a:lstStyle>
            <a:lvl1pPr algn="l">
              <a:defRPr sz="2400" b="0"/>
            </a:lvl1pPr>
          </a:lstStyle>
          <a:p>
            <a:r>
              <a:rPr lang="en-US"/>
              <a:t>Click to edit Master title style</a:t>
            </a:r>
            <a:endParaRPr lang="en-US" dirty="0"/>
          </a:p>
        </p:txBody>
      </p:sp>
      <p:sp>
        <p:nvSpPr>
          <p:cNvPr id="1048719"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20"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21" name="Date Placeholder 4"/>
          <p:cNvSpPr>
            <a:spLocks noGrp="1"/>
          </p:cNvSpPr>
          <p:nvPr>
            <p:ph type="dt" sz="half" idx="10"/>
          </p:nvPr>
        </p:nvSpPr>
        <p:spPr/>
        <p:txBody>
          <a:bodyPr/>
          <a:lstStyle/>
          <a:p>
            <a:endParaRPr lang="en-IN"/>
          </a:p>
        </p:txBody>
      </p:sp>
      <p:sp>
        <p:nvSpPr>
          <p:cNvPr id="1048722" name="Footer Placeholder 5"/>
          <p:cNvSpPr>
            <a:spLocks noGrp="1"/>
          </p:cNvSpPr>
          <p:nvPr>
            <p:ph type="ftr" sz="quarter" idx="11"/>
          </p:nvPr>
        </p:nvSpPr>
        <p:spPr/>
        <p:txBody>
          <a:bodyPr/>
          <a:lstStyle/>
          <a:p>
            <a:endParaRPr lang="en-IN"/>
          </a:p>
        </p:txBody>
      </p:sp>
      <p:sp>
        <p:nvSpPr>
          <p:cNvPr id="1048723"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48"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1048649"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048650"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51" name="Date Placeholder 4"/>
          <p:cNvSpPr>
            <a:spLocks noGrp="1"/>
          </p:cNvSpPr>
          <p:nvPr>
            <p:ph type="dt" sz="half" idx="10"/>
          </p:nvPr>
        </p:nvSpPr>
        <p:spPr/>
        <p:txBody>
          <a:bodyPr/>
          <a:lstStyle/>
          <a:p>
            <a:endParaRPr lang="en-IN"/>
          </a:p>
        </p:txBody>
      </p:sp>
      <p:sp>
        <p:nvSpPr>
          <p:cNvPr id="1048652" name="Footer Placeholder 5"/>
          <p:cNvSpPr>
            <a:spLocks noGrp="1"/>
          </p:cNvSpPr>
          <p:nvPr>
            <p:ph type="ftr" sz="quarter" idx="11"/>
          </p:nvPr>
        </p:nvSpPr>
        <p:spPr/>
        <p:txBody>
          <a:bodyPr/>
          <a:lstStyle/>
          <a:p>
            <a:endParaRPr lang="en-IN"/>
          </a:p>
        </p:txBody>
      </p:sp>
      <p:sp>
        <p:nvSpPr>
          <p:cNvPr id="1048653"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1048696" name="Title 1"/>
          <p:cNvSpPr>
            <a:spLocks noGrp="1"/>
          </p:cNvSpPr>
          <p:nvPr>
            <p:ph type="title"/>
          </p:nvPr>
        </p:nvSpPr>
        <p:spPr>
          <a:xfrm>
            <a:off x="866443" y="4800587"/>
            <a:ext cx="6620967" cy="566738"/>
          </a:xfrm>
        </p:spPr>
        <p:txBody>
          <a:bodyPr anchor="b">
            <a:normAutofit/>
          </a:bodyPr>
          <a:lstStyle>
            <a:lvl1pPr algn="l">
              <a:defRPr sz="2400" b="0"/>
            </a:lvl1pPr>
          </a:lstStyle>
          <a:p>
            <a:r>
              <a:rPr lang="en-US"/>
              <a:t>Click to edit Master title style</a:t>
            </a:r>
            <a:endParaRPr lang="en-US" dirty="0"/>
          </a:p>
        </p:txBody>
      </p:sp>
      <p:sp>
        <p:nvSpPr>
          <p:cNvPr id="1048697"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048698"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99" name="Date Placeholder 4"/>
          <p:cNvSpPr>
            <a:spLocks noGrp="1"/>
          </p:cNvSpPr>
          <p:nvPr>
            <p:ph type="dt" sz="half" idx="10"/>
          </p:nvPr>
        </p:nvSpPr>
        <p:spPr/>
        <p:txBody>
          <a:bodyPr/>
          <a:lstStyle/>
          <a:p>
            <a:endParaRPr lang="en-IN"/>
          </a:p>
        </p:txBody>
      </p:sp>
      <p:sp>
        <p:nvSpPr>
          <p:cNvPr id="1048700" name="Footer Placeholder 5"/>
          <p:cNvSpPr>
            <a:spLocks noGrp="1"/>
          </p:cNvSpPr>
          <p:nvPr>
            <p:ph type="ftr" sz="quarter" idx="11"/>
          </p:nvPr>
        </p:nvSpPr>
        <p:spPr/>
        <p:txBody>
          <a:bodyPr/>
          <a:lstStyle/>
          <a:p>
            <a:endParaRPr lang="en-IN"/>
          </a:p>
        </p:txBody>
      </p:sp>
      <p:sp>
        <p:nvSpPr>
          <p:cNvPr id="1048701"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1048643"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1048644"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45" name="Date Placeholder 3"/>
          <p:cNvSpPr>
            <a:spLocks noGrp="1"/>
          </p:cNvSpPr>
          <p:nvPr>
            <p:ph type="dt" sz="half" idx="10"/>
          </p:nvPr>
        </p:nvSpPr>
        <p:spPr/>
        <p:txBody>
          <a:bodyPr/>
          <a:lstStyle/>
          <a:p>
            <a:endParaRPr lang="en-IN"/>
          </a:p>
        </p:txBody>
      </p:sp>
      <p:sp>
        <p:nvSpPr>
          <p:cNvPr id="1048646" name="Footer Placeholder 4"/>
          <p:cNvSpPr>
            <a:spLocks noGrp="1"/>
          </p:cNvSpPr>
          <p:nvPr>
            <p:ph type="ftr" sz="quarter" idx="11"/>
          </p:nvPr>
        </p:nvSpPr>
        <p:spPr/>
        <p:txBody>
          <a:bodyPr/>
          <a:lstStyle/>
          <a:p>
            <a:endParaRPr lang="en-IN"/>
          </a:p>
        </p:txBody>
      </p:sp>
      <p:sp>
        <p:nvSpPr>
          <p:cNvPr id="1048647"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048683" name="Title 1"/>
          <p:cNvSpPr>
            <a:spLocks noGrp="1"/>
          </p:cNvSpPr>
          <p:nvPr>
            <p:ph type="title"/>
          </p:nvPr>
        </p:nvSpPr>
        <p:spPr>
          <a:xfrm>
            <a:off x="1181409" y="1447800"/>
            <a:ext cx="6001049" cy="2323374"/>
          </a:xfrm>
        </p:spPr>
        <p:txBody>
          <a:bodyPr/>
          <a:lstStyle>
            <a:lvl1pPr>
              <a:defRPr sz="4800"/>
            </a:lvl1pPr>
          </a:lstStyle>
          <a:p>
            <a:r>
              <a:rPr lang="en-US"/>
              <a:t>Click to edit Master title style</a:t>
            </a:r>
            <a:endParaRPr lang="en-US" dirty="0"/>
          </a:p>
        </p:txBody>
      </p:sp>
      <p:sp>
        <p:nvSpPr>
          <p:cNvPr id="1048684"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48685"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86" name="Date Placeholder 3"/>
          <p:cNvSpPr>
            <a:spLocks noGrp="1"/>
          </p:cNvSpPr>
          <p:nvPr>
            <p:ph type="dt" sz="half" idx="10"/>
          </p:nvPr>
        </p:nvSpPr>
        <p:spPr/>
        <p:txBody>
          <a:bodyPr/>
          <a:lstStyle/>
          <a:p>
            <a:endParaRPr lang="en-IN"/>
          </a:p>
        </p:txBody>
      </p:sp>
      <p:sp>
        <p:nvSpPr>
          <p:cNvPr id="1048687" name="Footer Placeholder 4"/>
          <p:cNvSpPr>
            <a:spLocks noGrp="1"/>
          </p:cNvSpPr>
          <p:nvPr>
            <p:ph type="ftr" sz="quarter" idx="11"/>
          </p:nvPr>
        </p:nvSpPr>
        <p:spPr/>
        <p:txBody>
          <a:bodyPr/>
          <a:lstStyle/>
          <a:p>
            <a:endParaRPr lang="en-IN"/>
          </a:p>
        </p:txBody>
      </p:sp>
      <p:sp>
        <p:nvSpPr>
          <p:cNvPr id="1048688"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1048689" name="TextBox 11"/>
          <p:cNvSpPr txBox="1"/>
          <p:nvPr/>
        </p:nvSpPr>
        <p:spPr>
          <a:xfrm>
            <a:off x="673897" y="971253"/>
            <a:ext cx="601591" cy="190754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048690" name="TextBox 14"/>
          <p:cNvSpPr txBox="1"/>
          <p:nvPr/>
        </p:nvSpPr>
        <p:spPr>
          <a:xfrm>
            <a:off x="6999690" y="2613787"/>
            <a:ext cx="601591" cy="190754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1048638" name="Title 1"/>
          <p:cNvSpPr>
            <a:spLocks noGrp="1"/>
          </p:cNvSpPr>
          <p:nvPr>
            <p:ph type="title"/>
          </p:nvPr>
        </p:nvSpPr>
        <p:spPr>
          <a:xfrm>
            <a:off x="866441" y="3124201"/>
            <a:ext cx="6620969" cy="1653180"/>
          </a:xfrm>
        </p:spPr>
        <p:txBody>
          <a:bodyPr anchor="b"/>
          <a:lstStyle>
            <a:lvl1pPr algn="l">
              <a:defRPr sz="4000" b="0" cap="none"/>
            </a:lvl1pPr>
          </a:lstStyle>
          <a:p>
            <a:r>
              <a:rPr lang="en-US"/>
              <a:t>Click to edit Master title style</a:t>
            </a:r>
            <a:endParaRPr lang="en-US" dirty="0"/>
          </a:p>
        </p:txBody>
      </p:sp>
      <p:sp>
        <p:nvSpPr>
          <p:cNvPr id="1048639"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40" name="Date Placeholder 3"/>
          <p:cNvSpPr>
            <a:spLocks noGrp="1"/>
          </p:cNvSpPr>
          <p:nvPr>
            <p:ph type="dt" sz="half" idx="10"/>
          </p:nvPr>
        </p:nvSpPr>
        <p:spPr/>
        <p:txBody>
          <a:bodyPr/>
          <a:lstStyle/>
          <a:p>
            <a:endParaRPr lang="en-IN"/>
          </a:p>
        </p:txBody>
      </p:sp>
      <p:sp>
        <p:nvSpPr>
          <p:cNvPr id="1048641" name="Footer Placeholder 4"/>
          <p:cNvSpPr>
            <a:spLocks noGrp="1"/>
          </p:cNvSpPr>
          <p:nvPr>
            <p:ph type="ftr" sz="quarter" idx="11"/>
          </p:nvPr>
        </p:nvSpPr>
        <p:spPr/>
        <p:txBody>
          <a:bodyPr/>
          <a:lstStyle/>
          <a:p>
            <a:endParaRPr lang="en-IN"/>
          </a:p>
        </p:txBody>
      </p:sp>
      <p:sp>
        <p:nvSpPr>
          <p:cNvPr id="1048642"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048708"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1048709"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10"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11"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12"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13"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14"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3145730" name="Straight Connector 16"/>
          <p:cNvCxnSpPr>
            <a:cxnSpLocks/>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3145731" name="Straight Connector 17"/>
          <p:cNvCxnSpPr>
            <a:cxnSpLocks/>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1048715" name="Date Placeholder 3"/>
          <p:cNvSpPr>
            <a:spLocks noGrp="1"/>
          </p:cNvSpPr>
          <p:nvPr>
            <p:ph type="dt" sz="half" idx="10"/>
          </p:nvPr>
        </p:nvSpPr>
        <p:spPr/>
        <p:txBody>
          <a:bodyPr/>
          <a:lstStyle/>
          <a:p>
            <a:endParaRPr lang="en-IN"/>
          </a:p>
        </p:txBody>
      </p:sp>
      <p:sp>
        <p:nvSpPr>
          <p:cNvPr id="1048716" name="Footer Placeholder 4"/>
          <p:cNvSpPr>
            <a:spLocks noGrp="1"/>
          </p:cNvSpPr>
          <p:nvPr>
            <p:ph type="ftr" sz="quarter" idx="11"/>
          </p:nvPr>
        </p:nvSpPr>
        <p:spPr/>
        <p:txBody>
          <a:bodyPr/>
          <a:lstStyle/>
          <a:p>
            <a:endParaRPr lang="en-IN"/>
          </a:p>
        </p:txBody>
      </p:sp>
      <p:sp>
        <p:nvSpPr>
          <p:cNvPr id="1048717"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1048654"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1048655"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56"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048657"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58"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59"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048660"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61"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2"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048663"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3145728" name="Straight Connector 18"/>
          <p:cNvCxnSpPr>
            <a:cxnSpLocks/>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3145729" name="Straight Connector 19"/>
          <p:cNvCxnSpPr>
            <a:cxnSpLocks/>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1048664" name="Date Placeholder 3"/>
          <p:cNvSpPr>
            <a:spLocks noGrp="1"/>
          </p:cNvSpPr>
          <p:nvPr>
            <p:ph type="dt" sz="half" idx="10"/>
          </p:nvPr>
        </p:nvSpPr>
        <p:spPr/>
        <p:txBody>
          <a:bodyPr/>
          <a:lstStyle/>
          <a:p>
            <a:endParaRPr lang="en-IN"/>
          </a:p>
        </p:txBody>
      </p:sp>
      <p:sp>
        <p:nvSpPr>
          <p:cNvPr id="1048665" name="Footer Placeholder 4"/>
          <p:cNvSpPr>
            <a:spLocks noGrp="1"/>
          </p:cNvSpPr>
          <p:nvPr>
            <p:ph type="ftr" sz="quarter" idx="11"/>
          </p:nvPr>
        </p:nvSpPr>
        <p:spPr/>
        <p:txBody>
          <a:bodyPr/>
          <a:lstStyle/>
          <a:p>
            <a:endParaRPr lang="en-IN"/>
          </a:p>
        </p:txBody>
      </p:sp>
      <p:sp>
        <p:nvSpPr>
          <p:cNvPr id="104866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24" name="Title 1"/>
          <p:cNvSpPr>
            <a:spLocks noGrp="1"/>
          </p:cNvSpPr>
          <p:nvPr>
            <p:ph type="title"/>
          </p:nvPr>
        </p:nvSpPr>
        <p:spPr/>
        <p:txBody>
          <a:bodyPr/>
          <a:lstStyle/>
          <a:p>
            <a:r>
              <a:rPr lang="en-US"/>
              <a:t>Click to edit Master title style</a:t>
            </a:r>
            <a:endParaRPr lang="en-US" dirty="0"/>
          </a:p>
        </p:txBody>
      </p:sp>
      <p:sp>
        <p:nvSpPr>
          <p:cNvPr id="1048725"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26" name="Date Placeholder 3"/>
          <p:cNvSpPr>
            <a:spLocks noGrp="1"/>
          </p:cNvSpPr>
          <p:nvPr>
            <p:ph type="dt" sz="half" idx="10"/>
          </p:nvPr>
        </p:nvSpPr>
        <p:spPr/>
        <p:txBody>
          <a:bodyPr/>
          <a:lstStyle/>
          <a:p>
            <a:endParaRPr lang="en-IN"/>
          </a:p>
        </p:txBody>
      </p:sp>
      <p:sp>
        <p:nvSpPr>
          <p:cNvPr id="1048727" name="Footer Placeholder 4"/>
          <p:cNvSpPr>
            <a:spLocks noGrp="1"/>
          </p:cNvSpPr>
          <p:nvPr>
            <p:ph type="ftr" sz="quarter" idx="11"/>
          </p:nvPr>
        </p:nvSpPr>
        <p:spPr/>
        <p:txBody>
          <a:bodyPr/>
          <a:lstStyle/>
          <a:p>
            <a:endParaRPr lang="en-IN"/>
          </a:p>
        </p:txBody>
      </p:sp>
      <p:sp>
        <p:nvSpPr>
          <p:cNvPr id="1048728"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78" name="Vertical Title 1"/>
          <p:cNvSpPr>
            <a:spLocks noGrp="1"/>
          </p:cNvSpPr>
          <p:nvPr>
            <p:ph type="title" orient="vert"/>
          </p:nvPr>
        </p:nvSpPr>
        <p:spPr>
          <a:xfrm>
            <a:off x="6229782" y="430214"/>
            <a:ext cx="1314793" cy="5826125"/>
          </a:xfrm>
        </p:spPr>
        <p:txBody>
          <a:bodyPr vert="eaVert" anchor="b" anchorCtr="0"/>
          <a:lstStyle/>
          <a:p>
            <a:r>
              <a:rPr lang="en-US"/>
              <a:t>Click to edit Master title style</a:t>
            </a:r>
            <a:endParaRPr lang="en-US" dirty="0"/>
          </a:p>
        </p:txBody>
      </p:sp>
      <p:sp>
        <p:nvSpPr>
          <p:cNvPr id="1048679" name="Vertical Text Placeholder 2"/>
          <p:cNvSpPr>
            <a:spLocks noGrp="1"/>
          </p:cNvSpPr>
          <p:nvPr>
            <p:ph type="body" orient="vert" idx="1"/>
          </p:nvPr>
        </p:nvSpPr>
        <p:spPr>
          <a:xfrm>
            <a:off x="489475" y="773205"/>
            <a:ext cx="5568812" cy="54831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80" name="Date Placeholder 3"/>
          <p:cNvSpPr>
            <a:spLocks noGrp="1"/>
          </p:cNvSpPr>
          <p:nvPr>
            <p:ph type="dt" sz="half" idx="10"/>
          </p:nvPr>
        </p:nvSpPr>
        <p:spPr/>
        <p:txBody>
          <a:bodyPr/>
          <a:lstStyle/>
          <a:p>
            <a:endParaRPr lang="en-IN"/>
          </a:p>
        </p:txBody>
      </p:sp>
      <p:sp>
        <p:nvSpPr>
          <p:cNvPr id="1048681" name="Footer Placeholder 4"/>
          <p:cNvSpPr>
            <a:spLocks noGrp="1"/>
          </p:cNvSpPr>
          <p:nvPr>
            <p:ph type="ftr" sz="quarter" idx="11"/>
          </p:nvPr>
        </p:nvSpPr>
        <p:spPr/>
        <p:txBody>
          <a:bodyPr/>
          <a:lstStyle/>
          <a:p>
            <a:endParaRPr lang="en-IN"/>
          </a:p>
        </p:txBody>
      </p:sp>
      <p:sp>
        <p:nvSpPr>
          <p:cNvPr id="1048682"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48576" name="Oval 21"/>
          <p:cNvSpPr/>
          <p:nvPr/>
        </p:nvSpPr>
        <p:spPr>
          <a:xfrm>
            <a:off x="6299432" y="1676400"/>
            <a:ext cx="2819400" cy="2819400"/>
          </a:xfrm>
          <a:prstGeom prst="ellipse">
            <a:avLst/>
          </a:prstGeom>
          <a:gradFill flip="none" rotWithShape="1">
            <a:gsLst>
              <a:gs pos="0">
                <a:schemeClr val="bg2">
                  <a:lumMod val="60000"/>
                  <a:lumOff val="40000"/>
                  <a:alpha val="7000"/>
                </a:schemeClr>
              </a:gs>
              <a:gs pos="36000">
                <a:schemeClr val="bg2">
                  <a:lumMod val="60000"/>
                  <a:lumOff val="40000"/>
                  <a:alpha val="6000"/>
                </a:schemeClr>
              </a:gs>
              <a:gs pos="69000">
                <a:schemeClr val="bg2">
                  <a:lumMod val="60000"/>
                  <a:lumOff val="40000"/>
                  <a:alpha val="0"/>
                </a:scheme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sp>
      <p:sp>
        <p:nvSpPr>
          <p:cNvPr id="1048577" name="Oval 22"/>
          <p:cNvSpPr/>
          <p:nvPr/>
        </p:nvSpPr>
        <p:spPr>
          <a:xfrm>
            <a:off x="5689832" y="-457200"/>
            <a:ext cx="1600200" cy="1600200"/>
          </a:xfrm>
          <a:prstGeom prst="ellipse">
            <a:avLst/>
          </a:prstGeom>
          <a:gradFill flip="none" rotWithShape="1">
            <a:gsLst>
              <a:gs pos="0">
                <a:schemeClr val="bg2">
                  <a:lumMod val="60000"/>
                  <a:lumOff val="40000"/>
                  <a:alpha val="14000"/>
                </a:schemeClr>
              </a:gs>
              <a:gs pos="36000">
                <a:schemeClr val="bg2">
                  <a:lumMod val="60000"/>
                  <a:lumOff val="40000"/>
                  <a:alpha val="7000"/>
                </a:schemeClr>
              </a:gs>
              <a:gs pos="73000">
                <a:schemeClr val="bg2">
                  <a:lumMod val="60000"/>
                  <a:lumOff val="40000"/>
                  <a:alpha val="0"/>
                </a:scheme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sp>
      <p:sp>
        <p:nvSpPr>
          <p:cNvPr id="1048578" name="Oval 23"/>
          <p:cNvSpPr/>
          <p:nvPr/>
        </p:nvSpPr>
        <p:spPr>
          <a:xfrm>
            <a:off x="6299432" y="6096000"/>
            <a:ext cx="990600" cy="990600"/>
          </a:xfrm>
          <a:prstGeom prst="ellipse">
            <a:avLst/>
          </a:prstGeom>
          <a:gradFill flip="none" rotWithShape="1">
            <a:gsLst>
              <a:gs pos="0">
                <a:schemeClr val="bg2">
                  <a:lumMod val="60000"/>
                  <a:lumOff val="40000"/>
                  <a:alpha val="9000"/>
                </a:schemeClr>
              </a:gs>
              <a:gs pos="36000">
                <a:schemeClr val="bg2">
                  <a:lumMod val="60000"/>
                  <a:lumOff val="40000"/>
                  <a:alpha val="5000"/>
                </a:schemeClr>
              </a:gs>
              <a:gs pos="66000">
                <a:schemeClr val="bg2">
                  <a:lumMod val="60000"/>
                  <a:lumOff val="40000"/>
                  <a:alpha val="0"/>
                </a:scheme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sp>
      <p:sp>
        <p:nvSpPr>
          <p:cNvPr id="1048579" name="Oval 19"/>
          <p:cNvSpPr/>
          <p:nvPr/>
        </p:nvSpPr>
        <p:spPr>
          <a:xfrm>
            <a:off x="-153988" y="2667000"/>
            <a:ext cx="4191000" cy="4191000"/>
          </a:xfrm>
          <a:prstGeom prst="ellipse">
            <a:avLst/>
          </a:prstGeom>
          <a:gradFill flip="none" rotWithShape="1">
            <a:gsLst>
              <a:gs pos="0">
                <a:schemeClr val="bg2">
                  <a:lumMod val="60000"/>
                  <a:lumOff val="40000"/>
                  <a:alpha val="11000"/>
                </a:schemeClr>
              </a:gs>
              <a:gs pos="36000">
                <a:schemeClr val="bg2">
                  <a:lumMod val="60000"/>
                  <a:lumOff val="40000"/>
                  <a:alpha val="10000"/>
                </a:schemeClr>
              </a:gs>
              <a:gs pos="75000">
                <a:schemeClr val="bg2">
                  <a:lumMod val="60000"/>
                  <a:lumOff val="40000"/>
                  <a:alpha val="0"/>
                </a:scheme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sp>
      <p:sp>
        <p:nvSpPr>
          <p:cNvPr id="1048580" name="Oval 20"/>
          <p:cNvSpPr/>
          <p:nvPr/>
        </p:nvSpPr>
        <p:spPr>
          <a:xfrm>
            <a:off x="-839788" y="2895600"/>
            <a:ext cx="2362200" cy="2362200"/>
          </a:xfrm>
          <a:prstGeom prst="ellipse">
            <a:avLst/>
          </a:prstGeom>
          <a:gradFill flip="none" rotWithShape="1">
            <a:gsLst>
              <a:gs pos="0">
                <a:schemeClr val="bg2">
                  <a:lumMod val="60000"/>
                  <a:lumOff val="40000"/>
                  <a:alpha val="8000"/>
                </a:schemeClr>
              </a:gs>
              <a:gs pos="36000">
                <a:schemeClr val="bg2">
                  <a:lumMod val="60000"/>
                  <a:lumOff val="40000"/>
                  <a:alpha val="8000"/>
                </a:schemeClr>
              </a:gs>
              <a:gs pos="72000">
                <a:schemeClr val="bg2">
                  <a:lumMod val="60000"/>
                  <a:lumOff val="40000"/>
                  <a:alpha val="0"/>
                </a:scheme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sp>
      <p:sp>
        <p:nvSpPr>
          <p:cNvPr id="1048581"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04858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104858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58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endParaRPr lang="en-IN"/>
          </a:p>
        </p:txBody>
      </p:sp>
      <p:sp>
        <p:nvSpPr>
          <p:cNvPr id="104858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104858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1048592" name="Google Shape;84;p1"/>
          <p:cNvSpPr txBox="1">
            <a:spLocks noGrp="1"/>
          </p:cNvSpPr>
          <p:nvPr>
            <p:ph type="title"/>
          </p:nvPr>
        </p:nvSpPr>
        <p:spPr>
          <a:xfrm>
            <a:off x="1140644" y="1111400"/>
            <a:ext cx="7067193" cy="1769882"/>
          </a:xfrm>
          <a:prstGeom prst="rect">
            <a:avLst/>
          </a:prstGeom>
          <a:noFill/>
          <a:ln>
            <a:noFill/>
          </a:ln>
        </p:spPr>
        <p:txBody>
          <a:bodyPr spcFirstLastPara="1" wrap="square" lIns="91425" tIns="45700" rIns="91425" bIns="0" anchor="b" anchorCtr="0">
            <a:noAutofit/>
          </a:bodyPr>
          <a:lstStyle/>
          <a:p>
            <a:pPr marL="0" lvl="0" indent="0" algn="ctr" rtl="0">
              <a:lnSpc>
                <a:spcPct val="100000"/>
              </a:lnSpc>
              <a:spcBef>
                <a:spcPts val="0"/>
              </a:spcBef>
              <a:spcAft>
                <a:spcPts val="0"/>
              </a:spcAft>
              <a:buClr>
                <a:srgbClr val="DCC577"/>
              </a:buClr>
              <a:buSzPct val="100000"/>
              <a:buFont typeface="Lucida Sans"/>
              <a:buNone/>
            </a:pPr>
            <a:r>
              <a:rPr lang="en-US" sz="2800" b="1" dirty="0"/>
              <a:t>PSYCHOLOGICAL TRAUMA AND THEIR COGNITIVE EMOTIONAL REGULATION OF COLLEGE STUDENTS - A STATISTICAL PERSPECTIVE</a:t>
            </a:r>
          </a:p>
        </p:txBody>
      </p:sp>
      <p:sp>
        <p:nvSpPr>
          <p:cNvPr id="1048593" name="TextBox 2"/>
          <p:cNvSpPr txBox="1"/>
          <p:nvPr/>
        </p:nvSpPr>
        <p:spPr>
          <a:xfrm>
            <a:off x="5017969" y="3167868"/>
            <a:ext cx="3522715" cy="1477328"/>
          </a:xfrm>
          <a:prstGeom prst="rect">
            <a:avLst/>
          </a:prstGeom>
          <a:noFill/>
        </p:spPr>
        <p:txBody>
          <a:bodyPr wrap="square">
            <a:spAutoFit/>
          </a:bodyPr>
          <a:lstStyle/>
          <a:p>
            <a:pPr algn="r" rtl="0">
              <a:spcBef>
                <a:spcPts val="0"/>
              </a:spcBef>
              <a:spcAft>
                <a:spcPts val="0"/>
              </a:spcAft>
            </a:pPr>
            <a:r>
              <a:rPr lang="en-US" sz="1800" b="0" i="0" u="none" strike="noStrike" dirty="0">
                <a:effectLst/>
                <a:latin typeface="+mj-lt"/>
              </a:rPr>
              <a:t>Presented by </a:t>
            </a:r>
            <a:br>
              <a:rPr lang="en-US" b="0" dirty="0">
                <a:effectLst/>
                <a:latin typeface="+mj-lt"/>
              </a:rPr>
            </a:br>
            <a:r>
              <a:rPr lang="en-US" sz="1800" b="1" i="0" u="none" strike="noStrike" dirty="0">
                <a:effectLst/>
                <a:latin typeface="+mj-lt"/>
              </a:rPr>
              <a:t>Snega &amp; </a:t>
            </a:r>
            <a:r>
              <a:rPr lang="en-US" sz="1800" b="1" i="0" u="none" strike="noStrike" dirty="0" err="1">
                <a:effectLst/>
                <a:latin typeface="+mj-lt"/>
              </a:rPr>
              <a:t>Kezial</a:t>
            </a:r>
            <a:r>
              <a:rPr lang="en-US" sz="1800" b="1" i="0" u="none" strike="noStrike" dirty="0">
                <a:effectLst/>
                <a:latin typeface="+mj-lt"/>
              </a:rPr>
              <a:t> </a:t>
            </a:r>
            <a:r>
              <a:rPr lang="en-US" sz="1800" b="1" i="0" u="none" strike="noStrike" dirty="0" err="1">
                <a:effectLst/>
                <a:latin typeface="+mj-lt"/>
              </a:rPr>
              <a:t>Rajamani</a:t>
            </a:r>
            <a:r>
              <a:rPr lang="en-US" sz="1800" b="1" i="0" u="none" strike="noStrike" dirty="0">
                <a:effectLst/>
                <a:latin typeface="+mj-lt"/>
              </a:rPr>
              <a:t>  </a:t>
            </a:r>
            <a:endParaRPr lang="en-US" b="0" dirty="0">
              <a:effectLst/>
              <a:latin typeface="+mj-lt"/>
            </a:endParaRPr>
          </a:p>
          <a:p>
            <a:pPr algn="r" rtl="0">
              <a:spcBef>
                <a:spcPts val="0"/>
              </a:spcBef>
              <a:spcAft>
                <a:spcPts val="0"/>
              </a:spcAft>
            </a:pPr>
            <a:r>
              <a:rPr lang="en-US" sz="1800" b="1" i="0" u="none" strike="noStrike" dirty="0">
                <a:effectLst/>
                <a:latin typeface="+mj-lt"/>
              </a:rPr>
              <a:t>M.Sc., Statistics</a:t>
            </a:r>
            <a:endParaRPr lang="en-US" b="0" dirty="0">
              <a:effectLst/>
              <a:latin typeface="+mj-lt"/>
            </a:endParaRPr>
          </a:p>
          <a:p>
            <a:pPr algn="r" rtl="0">
              <a:spcBef>
                <a:spcPts val="0"/>
              </a:spcBef>
              <a:spcAft>
                <a:spcPts val="0"/>
              </a:spcAft>
            </a:pPr>
            <a:r>
              <a:rPr lang="en-US" sz="1800" b="1" i="0" u="none" strike="noStrike" dirty="0">
                <a:effectLst/>
                <a:latin typeface="+mj-lt"/>
              </a:rPr>
              <a:t>Department of Statistics</a:t>
            </a:r>
            <a:endParaRPr lang="en-US" b="0" dirty="0">
              <a:effectLst/>
              <a:latin typeface="+mj-lt"/>
            </a:endParaRPr>
          </a:p>
          <a:p>
            <a:pPr algn="r" rtl="0">
              <a:spcBef>
                <a:spcPts val="0"/>
              </a:spcBef>
              <a:spcAft>
                <a:spcPts val="0"/>
              </a:spcAft>
            </a:pPr>
            <a:r>
              <a:rPr lang="en-US" sz="1800" b="1" i="0" u="none" strike="noStrike" dirty="0">
                <a:effectLst/>
                <a:latin typeface="+mj-lt"/>
              </a:rPr>
              <a:t>Madras Christian College </a:t>
            </a:r>
            <a:endParaRPr lang="en-IN" dirty="0"/>
          </a:p>
        </p:txBody>
      </p:sp>
      <p:sp>
        <p:nvSpPr>
          <p:cNvPr id="1048594" name="TextBox 4"/>
          <p:cNvSpPr txBox="1"/>
          <p:nvPr/>
        </p:nvSpPr>
        <p:spPr>
          <a:xfrm>
            <a:off x="527901" y="3167868"/>
            <a:ext cx="3004239" cy="1424941"/>
          </a:xfrm>
          <a:prstGeom prst="rect">
            <a:avLst/>
          </a:prstGeom>
          <a:noFill/>
        </p:spPr>
        <p:txBody>
          <a:bodyPr wrap="square">
            <a:spAutoFit/>
          </a:bodyPr>
          <a:lstStyle/>
          <a:p>
            <a:pPr rtl="0">
              <a:spcBef>
                <a:spcPts val="0"/>
              </a:spcBef>
              <a:spcAft>
                <a:spcPts val="0"/>
              </a:spcAft>
            </a:pPr>
            <a:r>
              <a:rPr lang="en-US" sz="1800" b="0" i="0" u="none" strike="noStrike" dirty="0">
                <a:effectLst/>
                <a:latin typeface="+mj-lt"/>
              </a:rPr>
              <a:t>Under the Guidance of </a:t>
            </a:r>
            <a:br>
              <a:rPr lang="en-US" b="0" dirty="0">
                <a:effectLst/>
                <a:latin typeface="+mj-lt"/>
              </a:rPr>
            </a:br>
            <a:r>
              <a:rPr lang="en-US" sz="1800" b="1" i="0" u="none" strike="noStrike" dirty="0">
                <a:effectLst/>
                <a:latin typeface="+mj-lt"/>
              </a:rPr>
              <a:t>Dr. A. Jabarali</a:t>
            </a:r>
            <a:endParaRPr lang="en-US" b="0" dirty="0">
              <a:effectLst/>
              <a:latin typeface="+mj-lt"/>
            </a:endParaRPr>
          </a:p>
          <a:p>
            <a:pPr rtl="0">
              <a:spcBef>
                <a:spcPts val="0"/>
              </a:spcBef>
              <a:spcAft>
                <a:spcPts val="0"/>
              </a:spcAft>
            </a:pPr>
            <a:r>
              <a:rPr lang="en-US" sz="1800" b="1" i="0" u="none" strike="noStrike" dirty="0">
                <a:effectLst/>
                <a:latin typeface="+mj-lt"/>
              </a:rPr>
              <a:t>Assistant Professor</a:t>
            </a:r>
            <a:endParaRPr lang="en-US" b="0" dirty="0">
              <a:effectLst/>
              <a:latin typeface="+mj-lt"/>
            </a:endParaRPr>
          </a:p>
          <a:p>
            <a:pPr rtl="0">
              <a:spcBef>
                <a:spcPts val="0"/>
              </a:spcBef>
              <a:spcAft>
                <a:spcPts val="0"/>
              </a:spcAft>
            </a:pPr>
            <a:r>
              <a:rPr lang="en-US" sz="1800" b="1" i="0" u="none" strike="noStrike" dirty="0">
                <a:effectLst/>
                <a:latin typeface="+mj-lt"/>
              </a:rPr>
              <a:t>Department of Statistics</a:t>
            </a:r>
            <a:endParaRPr lang="en-US" b="0" dirty="0">
              <a:effectLst/>
              <a:latin typeface="+mj-lt"/>
            </a:endParaRPr>
          </a:p>
          <a:p>
            <a:pPr rtl="0">
              <a:spcBef>
                <a:spcPts val="0"/>
              </a:spcBef>
              <a:spcAft>
                <a:spcPts val="0"/>
              </a:spcAft>
            </a:pPr>
            <a:r>
              <a:rPr lang="en-US" sz="1800" b="1" i="0" u="none" strike="noStrike" dirty="0">
                <a:effectLst/>
                <a:latin typeface="+mj-lt"/>
              </a:rPr>
              <a:t>Madras Christian College</a:t>
            </a:r>
            <a:endParaRPr lang="en-IN" dirty="0"/>
          </a:p>
        </p:txBody>
      </p:sp>
      <p:sp>
        <p:nvSpPr>
          <p:cNvPr id="1048595" name="TextBox 5"/>
          <p:cNvSpPr txBox="1"/>
          <p:nvPr/>
        </p:nvSpPr>
        <p:spPr>
          <a:xfrm>
            <a:off x="2733773" y="5382704"/>
            <a:ext cx="3510028" cy="1158240"/>
          </a:xfrm>
          <a:prstGeom prst="rect">
            <a:avLst/>
          </a:prstGeom>
          <a:noFill/>
        </p:spPr>
        <p:txBody>
          <a:bodyPr wrap="square">
            <a:spAutoFit/>
          </a:bodyPr>
          <a:lstStyle/>
          <a:p>
            <a:pPr algn="ctr" rtl="0">
              <a:spcBef>
                <a:spcPts val="0"/>
              </a:spcBef>
              <a:spcAft>
                <a:spcPts val="0"/>
              </a:spcAft>
            </a:pPr>
            <a:r>
              <a:rPr lang="en-US" dirty="0">
                <a:latin typeface="+mj-lt"/>
              </a:rPr>
              <a:t>In collaboration with</a:t>
            </a:r>
            <a:r>
              <a:rPr lang="en-US" sz="1800" b="0" i="0" u="none" strike="noStrike" dirty="0">
                <a:effectLst/>
                <a:latin typeface="+mj-lt"/>
              </a:rPr>
              <a:t> </a:t>
            </a:r>
            <a:br>
              <a:rPr lang="en-US" b="0" dirty="0">
                <a:effectLst/>
                <a:latin typeface="+mj-lt"/>
              </a:rPr>
            </a:br>
            <a:r>
              <a:rPr lang="en-US" b="1" dirty="0">
                <a:effectLst/>
                <a:latin typeface="+mj-lt"/>
              </a:rPr>
              <a:t>Mrs. Jemima Wesley Williams</a:t>
            </a:r>
            <a:r>
              <a:rPr lang="en-US" b="0" dirty="0">
                <a:effectLst/>
                <a:latin typeface="+mj-lt"/>
              </a:rPr>
              <a:t> </a:t>
            </a:r>
          </a:p>
          <a:p>
            <a:pPr algn="ctr" rtl="0">
              <a:spcBef>
                <a:spcPts val="0"/>
              </a:spcBef>
              <a:spcAft>
                <a:spcPts val="0"/>
              </a:spcAft>
            </a:pPr>
            <a:r>
              <a:rPr lang="en-US" sz="1800" b="1" i="0" u="none" strike="noStrike" dirty="0">
                <a:effectLst/>
                <a:latin typeface="+mj-lt"/>
              </a:rPr>
              <a:t>Student Counselor</a:t>
            </a:r>
          </a:p>
          <a:p>
            <a:pPr algn="ctr" rtl="0">
              <a:spcBef>
                <a:spcPts val="0"/>
              </a:spcBef>
              <a:spcAft>
                <a:spcPts val="0"/>
              </a:spcAft>
            </a:pPr>
            <a:r>
              <a:rPr lang="en-US" sz="1800" b="1" i="0" u="none" strike="noStrike" dirty="0">
                <a:effectLst/>
                <a:latin typeface="+mj-lt"/>
              </a:rPr>
              <a:t>Madras Christian College</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1048603" name="Google Shape;89;p2"/>
          <p:cNvSpPr txBox="1">
            <a:spLocks noGrp="1"/>
          </p:cNvSpPr>
          <p:nvPr>
            <p:ph type="title"/>
          </p:nvPr>
        </p:nvSpPr>
        <p:spPr>
          <a:xfrm>
            <a:off x="414778" y="179650"/>
            <a:ext cx="7296347" cy="1143000"/>
          </a:xfrm>
          <a:prstGeom prst="rect">
            <a:avLst/>
          </a:prstGeom>
          <a:noFill/>
          <a:ln>
            <a:noFill/>
          </a:ln>
        </p:spPr>
        <p:txBody>
          <a:bodyPr spcFirstLastPara="1" wrap="square" lIns="91425" tIns="45700" rIns="91425" bIns="45700" anchor="ctr" anchorCtr="0">
            <a:normAutofit/>
          </a:bodyPr>
          <a:lstStyle/>
          <a:p>
            <a:pPr marL="0" lvl="0" indent="0" rtl="0">
              <a:lnSpc>
                <a:spcPct val="100000"/>
              </a:lnSpc>
              <a:spcBef>
                <a:spcPts val="0"/>
              </a:spcBef>
              <a:spcAft>
                <a:spcPts val="0"/>
              </a:spcAft>
              <a:buClr>
                <a:srgbClr val="EAD594"/>
              </a:buClr>
              <a:buSzPts val="4100"/>
              <a:buFont typeface="Lucida Sans"/>
              <a:buNone/>
            </a:pPr>
            <a:r>
              <a:rPr lang="en-US" sz="3600" dirty="0">
                <a:solidFill>
                  <a:srgbClr val="FF0000"/>
                </a:solidFill>
              </a:rPr>
              <a:t>BACKGROUND OF THE STUDY</a:t>
            </a:r>
            <a:endParaRPr sz="3600" dirty="0">
              <a:solidFill>
                <a:srgbClr val="FF0000"/>
              </a:solidFill>
            </a:endParaRPr>
          </a:p>
        </p:txBody>
      </p:sp>
      <p:sp>
        <p:nvSpPr>
          <p:cNvPr id="1048604" name="Google Shape;90;p2"/>
          <p:cNvSpPr txBox="1"/>
          <p:nvPr/>
        </p:nvSpPr>
        <p:spPr>
          <a:xfrm>
            <a:off x="949035" y="1299385"/>
            <a:ext cx="6530552" cy="4939773"/>
          </a:xfrm>
          <a:prstGeom prst="rect">
            <a:avLst/>
          </a:prstGeom>
          <a:noFill/>
          <a:ln>
            <a:noFill/>
          </a:ln>
        </p:spPr>
        <p:txBody>
          <a:bodyPr spcFirstLastPara="1" wrap="square" lIns="91425" tIns="45700" rIns="91425" bIns="45700" anchor="t" anchorCtr="0">
            <a:spAutoFit/>
          </a:bodyPr>
          <a:lstStyle/>
          <a:p>
            <a:pPr marL="400050" marR="0" lvl="0" indent="-285750" algn="just" rtl="0">
              <a:spcBef>
                <a:spcPts val="0"/>
              </a:spcBef>
              <a:spcAft>
                <a:spcPts val="0"/>
              </a:spcAft>
              <a:buClr>
                <a:schemeClr val="tx1"/>
              </a:buClr>
              <a:buSzPts val="1800"/>
              <a:buFont typeface="Wingdings" panose="05000000000000000000" pitchFamily="2" charset="2"/>
              <a:buChar char="Ø"/>
            </a:pPr>
            <a:r>
              <a:rPr lang="en-US" sz="1500" dirty="0">
                <a:effectLst/>
                <a:ea typeface="Garamond" panose="02020404030301010803" pitchFamily="18" charset="0"/>
                <a:cs typeface="Garamond" panose="02020404030301010803" pitchFamily="18" charset="0"/>
              </a:rPr>
              <a:t>Many of the risk factors for mental health and behavioral problems begin during adolescence. </a:t>
            </a:r>
          </a:p>
          <a:p>
            <a:pPr marL="400050" marR="0" lvl="0" indent="-285750" algn="just" rtl="0">
              <a:spcBef>
                <a:spcPts val="0"/>
              </a:spcBef>
              <a:spcAft>
                <a:spcPts val="0"/>
              </a:spcAft>
              <a:buClr>
                <a:schemeClr val="tx1"/>
              </a:buClr>
              <a:buSzPts val="1800"/>
              <a:buFont typeface="Wingdings" panose="05000000000000000000" pitchFamily="2" charset="2"/>
              <a:buChar char="Ø"/>
            </a:pPr>
            <a:r>
              <a:rPr lang="en-US" sz="1500" dirty="0">
                <a:effectLst/>
                <a:ea typeface="Garamond" panose="02020404030301010803" pitchFamily="18" charset="0"/>
                <a:cs typeface="Garamond" panose="02020404030301010803" pitchFamily="18" charset="0"/>
              </a:rPr>
              <a:t>The onset of mental disorders typically occurs in childhood and adolescence, with 20% of the world's children and adolescents experiencing mental disorders, half of those beginning prior to age 14. </a:t>
            </a:r>
          </a:p>
          <a:p>
            <a:pPr marL="400050" marR="0" lvl="0" indent="-285750" algn="just" rtl="0">
              <a:spcBef>
                <a:spcPts val="0"/>
              </a:spcBef>
              <a:spcAft>
                <a:spcPts val="0"/>
              </a:spcAft>
              <a:buClr>
                <a:schemeClr val="tx1"/>
              </a:buClr>
              <a:buSzPts val="1800"/>
              <a:buFont typeface="Wingdings" panose="05000000000000000000" pitchFamily="2" charset="2"/>
              <a:buChar char="Ø"/>
            </a:pPr>
            <a:r>
              <a:rPr lang="en-US" sz="1500" dirty="0">
                <a:effectLst/>
                <a:ea typeface="Garamond" panose="02020404030301010803" pitchFamily="18" charset="0"/>
                <a:cs typeface="Garamond" panose="02020404030301010803" pitchFamily="18" charset="0"/>
              </a:rPr>
              <a:t>To be specific, substance abuse, conduct problems, and various mental disorders in adolescence are often triggered by psychological trauma, either by direct experience of a traumatic event such as interpersonal violence or through secondary traumatic stress that occurs when a close family member or friend has experienced a traumatic event. </a:t>
            </a:r>
          </a:p>
          <a:p>
            <a:pPr marL="400050" marR="0" lvl="0" indent="-285750" algn="just" rtl="0">
              <a:spcBef>
                <a:spcPts val="0"/>
              </a:spcBef>
              <a:spcAft>
                <a:spcPts val="0"/>
              </a:spcAft>
              <a:buClr>
                <a:schemeClr val="tx1"/>
              </a:buClr>
              <a:buSzPts val="1800"/>
              <a:buFont typeface="Wingdings" panose="05000000000000000000" pitchFamily="2" charset="2"/>
              <a:buChar char="Ø"/>
            </a:pPr>
            <a:r>
              <a:rPr lang="en-US" sz="1500" dirty="0">
                <a:effectLst/>
                <a:ea typeface="Garamond" panose="02020404030301010803" pitchFamily="18" charset="0"/>
                <a:cs typeface="Garamond" panose="02020404030301010803" pitchFamily="18" charset="0"/>
              </a:rPr>
              <a:t>The kind, number, and complexity of traumas experienced in early life have a differential impact on psychological and behavioral difficulties. </a:t>
            </a:r>
            <a:endParaRPr lang="en-US" sz="1500" dirty="0">
              <a:ea typeface="Garamond" panose="02020404030301010803" pitchFamily="18" charset="0"/>
              <a:cs typeface="Garamond" panose="02020404030301010803" pitchFamily="18" charset="0"/>
            </a:endParaRPr>
          </a:p>
          <a:p>
            <a:pPr marL="400050" marR="0" lvl="0" indent="-285750" algn="just" rtl="0">
              <a:spcBef>
                <a:spcPts val="0"/>
              </a:spcBef>
              <a:spcAft>
                <a:spcPts val="0"/>
              </a:spcAft>
              <a:buClr>
                <a:schemeClr val="tx1"/>
              </a:buClr>
              <a:buSzPts val="1800"/>
              <a:buFont typeface="Wingdings" panose="05000000000000000000" pitchFamily="2" charset="2"/>
              <a:buChar char="Ø"/>
            </a:pPr>
            <a:r>
              <a:rPr lang="en-US" sz="1500" dirty="0">
                <a:effectLst/>
                <a:ea typeface="Garamond" panose="02020404030301010803" pitchFamily="18" charset="0"/>
                <a:cs typeface="Garamond" panose="02020404030301010803" pitchFamily="18" charset="0"/>
              </a:rPr>
              <a:t>In addition, children exposed to trauma may continue to develop new symptoms over time as they encounter additional developmental or environmental challenges and stressors. </a:t>
            </a:r>
            <a:endParaRPr lang="en-US" sz="1500" dirty="0">
              <a:ea typeface="Garamond" panose="02020404030301010803" pitchFamily="18" charset="0"/>
              <a:cs typeface="Garamond" panose="02020404030301010803" pitchFamily="18" charset="0"/>
            </a:endParaRPr>
          </a:p>
          <a:p>
            <a:pPr marL="400050" marR="0" lvl="0" indent="-285750" algn="just" rtl="0">
              <a:spcBef>
                <a:spcPts val="0"/>
              </a:spcBef>
              <a:spcAft>
                <a:spcPts val="0"/>
              </a:spcAft>
              <a:buClr>
                <a:schemeClr val="tx1"/>
              </a:buClr>
              <a:buSzPts val="1800"/>
              <a:buFont typeface="Wingdings" panose="05000000000000000000" pitchFamily="2" charset="2"/>
              <a:buChar char="Ø"/>
            </a:pPr>
            <a:r>
              <a:rPr lang="en-US" sz="1500" dirty="0">
                <a:effectLst/>
                <a:ea typeface="Garamond" panose="02020404030301010803" pitchFamily="18" charset="0"/>
                <a:cs typeface="Garamond" panose="02020404030301010803" pitchFamily="18" charset="0"/>
              </a:rPr>
              <a:t>Yet, it is still unclear as to why some young adolescents exposed to trauma develop emotional and behavioral problems while others do not.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2B4A0CF-82CB-DBDB-00DF-032C7D738962}"/>
              </a:ext>
            </a:extLst>
          </p:cNvPr>
          <p:cNvSpPr>
            <a:spLocks noGrp="1"/>
          </p:cNvSpPr>
          <p:nvPr>
            <p:ph type="title"/>
          </p:nvPr>
        </p:nvSpPr>
        <p:spPr>
          <a:xfrm>
            <a:off x="330597" y="730120"/>
            <a:ext cx="7055380" cy="1400530"/>
          </a:xfrm>
        </p:spPr>
        <p:txBody>
          <a:bodyPr/>
          <a:lstStyle/>
          <a:p>
            <a:r>
              <a:rPr lang="en-US" sz="3600" dirty="0">
                <a:solidFill>
                  <a:srgbClr val="FF0000"/>
                </a:solidFill>
              </a:rPr>
              <a:t>Importance of the study</a:t>
            </a:r>
            <a:endParaRPr lang="en-IN" sz="3600" dirty="0">
              <a:solidFill>
                <a:srgbClr val="FF0000"/>
              </a:solidFill>
            </a:endParaRPr>
          </a:p>
        </p:txBody>
      </p:sp>
      <p:sp>
        <p:nvSpPr>
          <p:cNvPr id="4" name="Content Placeholder 3">
            <a:extLst>
              <a:ext uri="{FF2B5EF4-FFF2-40B4-BE49-F238E27FC236}">
                <a16:creationId xmlns:a16="http://schemas.microsoft.com/office/drawing/2014/main" id="{0F2B94D0-C066-18A1-368B-8B153EB13D4A}"/>
              </a:ext>
            </a:extLst>
          </p:cNvPr>
          <p:cNvSpPr>
            <a:spLocks noGrp="1"/>
          </p:cNvSpPr>
          <p:nvPr>
            <p:ph idx="1"/>
          </p:nvPr>
        </p:nvSpPr>
        <p:spPr>
          <a:xfrm>
            <a:off x="909893" y="1621410"/>
            <a:ext cx="6711654" cy="4195481"/>
          </a:xfrm>
        </p:spPr>
        <p:txBody>
          <a:bodyPr/>
          <a:lstStyle/>
          <a:p>
            <a:r>
              <a:rPr lang="en-US" sz="2400" b="0" i="0" u="none" strike="noStrike" cap="none" dirty="0">
                <a:ea typeface="Century Schoolbook"/>
                <a:cs typeface="Century Schoolbook"/>
                <a:sym typeface="Century Schoolbook"/>
              </a:rPr>
              <a:t>This study was proposed is carried out in an effort to bridge the research gap between the adverse experiences that children encounter and the effects that these experiences have on their ability to cope with their emotions, which has a substantial influence on their cognitive wellbeing such as perception, attention, learning, memory, reasoning, and problem-solving, etc.</a:t>
            </a:r>
          </a:p>
          <a:p>
            <a:endParaRPr lang="en-IN" dirty="0"/>
          </a:p>
        </p:txBody>
      </p:sp>
    </p:spTree>
    <p:extLst>
      <p:ext uri="{BB962C8B-B14F-4D97-AF65-F5344CB8AC3E}">
        <p14:creationId xmlns:p14="http://schemas.microsoft.com/office/powerpoint/2010/main" val="1907192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7" name="Title 1"/>
          <p:cNvSpPr>
            <a:spLocks noGrp="1"/>
          </p:cNvSpPr>
          <p:nvPr>
            <p:ph type="title"/>
          </p:nvPr>
        </p:nvSpPr>
        <p:spPr>
          <a:xfrm>
            <a:off x="456429" y="187461"/>
            <a:ext cx="7055380" cy="793264"/>
          </a:xfrm>
        </p:spPr>
        <p:txBody>
          <a:bodyPr/>
          <a:lstStyle/>
          <a:p>
            <a:r>
              <a:rPr lang="en-IN" sz="3600" dirty="0">
                <a:solidFill>
                  <a:srgbClr val="FF0000"/>
                </a:solidFill>
              </a:rPr>
              <a:t>Objective</a:t>
            </a:r>
          </a:p>
        </p:txBody>
      </p:sp>
      <p:sp>
        <p:nvSpPr>
          <p:cNvPr id="1048608" name="TextBox 3"/>
          <p:cNvSpPr txBox="1"/>
          <p:nvPr/>
        </p:nvSpPr>
        <p:spPr>
          <a:xfrm>
            <a:off x="569550" y="1245982"/>
            <a:ext cx="8187951" cy="5262979"/>
          </a:xfrm>
          <a:prstGeom prst="rect">
            <a:avLst/>
          </a:prstGeom>
          <a:noFill/>
        </p:spPr>
        <p:txBody>
          <a:bodyPr wrap="square">
            <a:spAutoFit/>
          </a:bodyPr>
          <a:lstStyle/>
          <a:p>
            <a:pPr marL="285750" indent="-285750" algn="just" rtl="0" fontAlgn="base">
              <a:spcBef>
                <a:spcPts val="0"/>
              </a:spcBef>
              <a:spcAft>
                <a:spcPts val="0"/>
              </a:spcAft>
              <a:buFont typeface="Wingdings" panose="05000000000000000000" pitchFamily="2" charset="2"/>
              <a:buChar char="Ø"/>
            </a:pPr>
            <a:r>
              <a:rPr lang="en-US" sz="1400" b="0" i="0" u="none" strike="noStrike" dirty="0">
                <a:effectLst/>
                <a:latin typeface="+mj-lt"/>
              </a:rPr>
              <a:t>To assess the Adverse Childhood Experiences among college students. </a:t>
            </a:r>
          </a:p>
          <a:p>
            <a:pPr marL="742950" lvl="1" indent="-285750" algn="just" fontAlgn="base">
              <a:buFont typeface="Wingdings" panose="05000000000000000000" pitchFamily="2" charset="2"/>
              <a:buChar char="Ø"/>
            </a:pPr>
            <a:r>
              <a:rPr lang="en-US" sz="1400" b="0" i="0" u="none" strike="noStrike" dirty="0">
                <a:effectLst/>
                <a:latin typeface="+mj-lt"/>
              </a:rPr>
              <a:t>To study the association between Adverse Childhood Experiences in terms of demographic characters</a:t>
            </a:r>
          </a:p>
          <a:p>
            <a:pPr marL="742950" lvl="1" indent="-285750" algn="just" fontAlgn="base">
              <a:buFont typeface="Wingdings" panose="05000000000000000000" pitchFamily="2" charset="2"/>
              <a:buChar char="Ø"/>
            </a:pPr>
            <a:r>
              <a:rPr lang="en-US" sz="1400" b="0" i="0" u="none" strike="noStrike" dirty="0">
                <a:effectLst/>
                <a:latin typeface="+mj-lt"/>
              </a:rPr>
              <a:t>To study the significant difference between Adverse Childhood Experiences in terms of demographic characters</a:t>
            </a:r>
          </a:p>
          <a:p>
            <a:pPr lvl="1" algn="just" fontAlgn="base"/>
            <a:endParaRPr lang="en-US" sz="1400" b="0" i="0" u="none" strike="noStrike" dirty="0">
              <a:effectLst/>
              <a:latin typeface="+mj-lt"/>
            </a:endParaRPr>
          </a:p>
          <a:p>
            <a:pPr marL="285750" indent="-285750" algn="just" rtl="0" fontAlgn="base">
              <a:spcBef>
                <a:spcPts val="0"/>
              </a:spcBef>
              <a:spcAft>
                <a:spcPts val="0"/>
              </a:spcAft>
              <a:buFont typeface="Wingdings" panose="05000000000000000000" pitchFamily="2" charset="2"/>
              <a:buChar char="Ø"/>
            </a:pPr>
            <a:r>
              <a:rPr lang="en-US" sz="1400" b="0" i="0" u="none" strike="noStrike" dirty="0">
                <a:effectLst/>
                <a:latin typeface="+mj-lt"/>
              </a:rPr>
              <a:t>To assess the Cognitive and Emotional Regulation of college students. </a:t>
            </a:r>
          </a:p>
          <a:p>
            <a:pPr marL="742950" lvl="1" indent="-285750" algn="just" fontAlgn="base">
              <a:buFont typeface="Wingdings" panose="05000000000000000000" pitchFamily="2" charset="2"/>
              <a:buChar char="Ø"/>
            </a:pPr>
            <a:r>
              <a:rPr lang="en-US" sz="1400" b="0" i="0" u="none" strike="noStrike" dirty="0">
                <a:effectLst/>
                <a:latin typeface="+mj-lt"/>
              </a:rPr>
              <a:t>To study the Cognitive Emotional Regulation among college students based on various demographic characters</a:t>
            </a:r>
          </a:p>
          <a:p>
            <a:pPr marL="742950" lvl="1" indent="-285750" algn="just" fontAlgn="base">
              <a:buFont typeface="Wingdings" panose="05000000000000000000" pitchFamily="2" charset="2"/>
              <a:buChar char="Ø"/>
            </a:pPr>
            <a:r>
              <a:rPr lang="en-US" sz="1400" b="0" i="0" u="none" strike="noStrike" dirty="0">
                <a:effectLst/>
                <a:latin typeface="+mj-lt"/>
              </a:rPr>
              <a:t>To study the association between Cognitive Emotional Regulation and demographic characters</a:t>
            </a:r>
          </a:p>
          <a:p>
            <a:pPr marL="742950" lvl="1" indent="-285750" algn="just" fontAlgn="base">
              <a:buFont typeface="Wingdings" panose="05000000000000000000" pitchFamily="2" charset="2"/>
              <a:buChar char="Ø"/>
            </a:pPr>
            <a:r>
              <a:rPr lang="en-US" sz="1400" b="0" i="0" u="none" strike="noStrike" dirty="0">
                <a:effectLst/>
                <a:latin typeface="+mj-lt"/>
              </a:rPr>
              <a:t>To study the significant difference between Cognitive Emotional Regulation and demographic characters</a:t>
            </a:r>
          </a:p>
          <a:p>
            <a:pPr lvl="1" algn="just" fontAlgn="base"/>
            <a:endParaRPr lang="en-US" sz="1400" b="0" i="0" u="none" strike="noStrike" dirty="0">
              <a:effectLst/>
              <a:latin typeface="+mj-lt"/>
            </a:endParaRPr>
          </a:p>
          <a:p>
            <a:pPr marL="285750" indent="-285750" algn="just" rtl="0" fontAlgn="base">
              <a:spcBef>
                <a:spcPts val="0"/>
              </a:spcBef>
              <a:spcAft>
                <a:spcPts val="0"/>
              </a:spcAft>
              <a:buFont typeface="Wingdings" panose="05000000000000000000" pitchFamily="2" charset="2"/>
              <a:buChar char="Ø"/>
            </a:pPr>
            <a:r>
              <a:rPr lang="en-US" sz="1400" b="0" i="0" u="none" strike="noStrike" dirty="0">
                <a:effectLst/>
                <a:latin typeface="+mj-lt"/>
              </a:rPr>
              <a:t>To assess the impact of Adverse Childhood Experiences on Cognitive Emotional Regulation </a:t>
            </a:r>
          </a:p>
          <a:p>
            <a:pPr marL="742950" lvl="1" indent="-285750" algn="just" fontAlgn="base">
              <a:buFont typeface="Wingdings" panose="05000000000000000000" pitchFamily="2" charset="2"/>
              <a:buChar char="Ø"/>
            </a:pPr>
            <a:r>
              <a:rPr lang="en-US" sz="1400" b="0" i="0" u="none" strike="noStrike" dirty="0">
                <a:effectLst/>
                <a:latin typeface="+mj-lt"/>
              </a:rPr>
              <a:t>To study the association between Cognitive Emotional Regulation in terms of Adverse Childhood Experiences.</a:t>
            </a:r>
          </a:p>
          <a:p>
            <a:pPr marL="742950" lvl="1" indent="-285750" algn="just" fontAlgn="base">
              <a:buFont typeface="Wingdings" panose="05000000000000000000" pitchFamily="2" charset="2"/>
              <a:buChar char="Ø"/>
            </a:pPr>
            <a:r>
              <a:rPr lang="en-US" sz="1400" b="0" i="0" u="none" strike="noStrike" dirty="0">
                <a:effectLst/>
                <a:latin typeface="+mj-lt"/>
              </a:rPr>
              <a:t>To study the significant difference between Cognitive Emotional Regulation in terms of Adverse Childhood Experiences.</a:t>
            </a:r>
          </a:p>
          <a:p>
            <a:pPr marL="742950" lvl="1" indent="-285750" algn="just" fontAlgn="base">
              <a:buFont typeface="Wingdings" panose="05000000000000000000" pitchFamily="2" charset="2"/>
              <a:buChar char="Ø"/>
            </a:pPr>
            <a:endParaRPr lang="en-US" sz="1400" dirty="0">
              <a:latin typeface="+mj-lt"/>
            </a:endParaRPr>
          </a:p>
          <a:p>
            <a:pPr marL="285750" indent="-285750" algn="just" rtl="0" fontAlgn="base">
              <a:spcBef>
                <a:spcPts val="0"/>
              </a:spcBef>
              <a:spcAft>
                <a:spcPts val="0"/>
              </a:spcAft>
              <a:buFont typeface="Wingdings" panose="05000000000000000000" pitchFamily="2" charset="2"/>
              <a:buChar char="Ø"/>
            </a:pPr>
            <a:r>
              <a:rPr lang="en-US" sz="1400" b="0" i="0" u="none" strike="noStrike" dirty="0">
                <a:effectLst/>
                <a:latin typeface="+mj-lt"/>
              </a:rPr>
              <a:t>To develop the dashboard for a better understanding of the mental health of college students based on Adverse Childhood Experiences in terms of Cognitive Emotional Regulation.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048609" name="Google Shape;123;p5"/>
          <p:cNvSpPr txBox="1">
            <a:spLocks noGrp="1"/>
          </p:cNvSpPr>
          <p:nvPr>
            <p:ph type="title"/>
          </p:nvPr>
        </p:nvSpPr>
        <p:spPr>
          <a:xfrm>
            <a:off x="550697" y="75258"/>
            <a:ext cx="7055380" cy="905467"/>
          </a:xfrm>
          <a:prstGeom prst="rect">
            <a:avLst/>
          </a:prstGeom>
          <a:noFill/>
          <a:ln>
            <a:noFill/>
          </a:ln>
        </p:spPr>
        <p:txBody>
          <a:bodyPr spcFirstLastPara="1" wrap="square" lIns="91425" tIns="45700" rIns="91425" bIns="45700" anchor="ctr" anchorCtr="0">
            <a:normAutofit/>
          </a:bodyPr>
          <a:lstStyle/>
          <a:p>
            <a:pPr marL="0" lvl="0" indent="0" rtl="0">
              <a:lnSpc>
                <a:spcPct val="100000"/>
              </a:lnSpc>
              <a:spcBef>
                <a:spcPts val="0"/>
              </a:spcBef>
              <a:spcAft>
                <a:spcPts val="0"/>
              </a:spcAft>
              <a:buClr>
                <a:srgbClr val="EAD594"/>
              </a:buClr>
              <a:buSzPts val="4100"/>
              <a:buFont typeface="Lucida Sans"/>
              <a:buNone/>
            </a:pPr>
            <a:r>
              <a:rPr lang="en-US" sz="2400" dirty="0">
                <a:solidFill>
                  <a:srgbClr val="FF0000"/>
                </a:solidFill>
              </a:rPr>
              <a:t>METHODOLOGY</a:t>
            </a:r>
            <a:r>
              <a:rPr lang="en-US" sz="2400" b="1" dirty="0">
                <a:solidFill>
                  <a:srgbClr val="FF0000"/>
                </a:solidFill>
              </a:rPr>
              <a:t>: Sample Design, Study Design &amp; Tools for Data Collection</a:t>
            </a:r>
            <a:endParaRPr sz="2400" b="1" dirty="0">
              <a:solidFill>
                <a:srgbClr val="FF0000"/>
              </a:solidFill>
            </a:endParaRPr>
          </a:p>
        </p:txBody>
      </p:sp>
      <p:sp>
        <p:nvSpPr>
          <p:cNvPr id="1048610" name="Google Shape;124;p5"/>
          <p:cNvSpPr txBox="1"/>
          <p:nvPr/>
        </p:nvSpPr>
        <p:spPr>
          <a:xfrm>
            <a:off x="379043" y="1136811"/>
            <a:ext cx="8385913" cy="6232435"/>
          </a:xfrm>
          <a:prstGeom prst="rect">
            <a:avLst/>
          </a:prstGeom>
          <a:noFill/>
          <a:ln>
            <a:noFill/>
          </a:ln>
        </p:spPr>
        <p:txBody>
          <a:bodyPr spcFirstLastPara="1" wrap="square" lIns="91425" tIns="45700" rIns="91425" bIns="45700" anchor="t" anchorCtr="0">
            <a:spAutoFit/>
          </a:bodyPr>
          <a:lstStyle/>
          <a:p>
            <a:pPr marL="285750" indent="-285750" algn="just" rtl="0" fontAlgn="base">
              <a:spcBef>
                <a:spcPts val="0"/>
              </a:spcBef>
              <a:spcAft>
                <a:spcPts val="0"/>
              </a:spcAft>
              <a:buFont typeface="Wingdings" panose="05000000000000000000" pitchFamily="2" charset="2"/>
              <a:buChar char="Ø"/>
            </a:pPr>
            <a:r>
              <a:rPr lang="en-US" b="1" i="0" u="none" strike="noStrike" dirty="0">
                <a:effectLst/>
                <a:latin typeface="+mj-lt"/>
              </a:rPr>
              <a:t>Descriptive and Diagnostic Research design</a:t>
            </a:r>
            <a:r>
              <a:rPr lang="en-US" b="0" i="0" u="none" strike="noStrike" dirty="0">
                <a:effectLst/>
                <a:latin typeface="+mj-lt"/>
              </a:rPr>
              <a:t> to be used in this study to collect the primary data on college students </a:t>
            </a:r>
            <a:r>
              <a:rPr lang="en-US" dirty="0">
                <a:latin typeface="+mj-lt"/>
              </a:rPr>
              <a:t>who studying at Madras Christian College </a:t>
            </a:r>
            <a:r>
              <a:rPr lang="en-US" b="0" i="0" u="none" strike="noStrike" dirty="0">
                <a:effectLst/>
                <a:latin typeface="+mj-lt"/>
              </a:rPr>
              <a:t>through a </a:t>
            </a:r>
            <a:r>
              <a:rPr lang="en-US" i="0" u="none" strike="noStrike" dirty="0">
                <a:effectLst/>
                <a:latin typeface="+mj-lt"/>
              </a:rPr>
              <a:t>simple random sampling technique. </a:t>
            </a:r>
            <a:endParaRPr lang="en-US" i="0" u="none" strike="noStrike" dirty="0">
              <a:latin typeface="+mj-lt"/>
            </a:endParaRPr>
          </a:p>
          <a:p>
            <a:pPr marL="285750" indent="-285750" algn="just" rtl="0" fontAlgn="base">
              <a:spcBef>
                <a:spcPts val="0"/>
              </a:spcBef>
              <a:spcAft>
                <a:spcPts val="0"/>
              </a:spcAft>
              <a:buFont typeface="Wingdings" panose="05000000000000000000" pitchFamily="2" charset="2"/>
              <a:buChar char="Ø"/>
            </a:pPr>
            <a:r>
              <a:rPr lang="en-US" b="0" i="0" u="none" strike="noStrike" dirty="0">
                <a:effectLst/>
                <a:latin typeface="+mj-lt"/>
              </a:rPr>
              <a:t>This study adopted the </a:t>
            </a:r>
            <a:r>
              <a:rPr lang="en-US" b="1" i="0" u="none" strike="noStrike" dirty="0">
                <a:effectLst/>
                <a:latin typeface="+mj-lt"/>
              </a:rPr>
              <a:t>quantitative methodology</a:t>
            </a:r>
            <a:r>
              <a:rPr lang="en-US" b="0" i="0" u="none" strike="noStrike" dirty="0">
                <a:effectLst/>
                <a:latin typeface="+mj-lt"/>
              </a:rPr>
              <a:t> to collect the data from primary sources through google forms (in both Tamil and English versions) along with participants’ consent to share their personal experiences about Adverse Childhood Experiences and Cognitive Emotional Regulation. </a:t>
            </a:r>
            <a:endParaRPr lang="en-US" dirty="0">
              <a:latin typeface="+mj-lt"/>
            </a:endParaRPr>
          </a:p>
          <a:p>
            <a:pPr marL="285750" indent="-285750" algn="just" rtl="0" fontAlgn="base">
              <a:spcBef>
                <a:spcPts val="0"/>
              </a:spcBef>
              <a:spcAft>
                <a:spcPts val="0"/>
              </a:spcAft>
              <a:buFont typeface="Wingdings" panose="05000000000000000000" pitchFamily="2" charset="2"/>
              <a:buChar char="Ø"/>
            </a:pPr>
            <a:r>
              <a:rPr lang="en-US" b="0" i="0" u="none" strike="noStrike" dirty="0">
                <a:effectLst/>
                <a:latin typeface="+mj-lt"/>
              </a:rPr>
              <a:t>The minimum sample size of </a:t>
            </a:r>
            <a:r>
              <a:rPr lang="en-US" b="1" dirty="0">
                <a:latin typeface="+mj-lt"/>
              </a:rPr>
              <a:t>276</a:t>
            </a:r>
            <a:r>
              <a:rPr lang="en-US" b="0" i="0" u="none" strike="noStrike" dirty="0">
                <a:effectLst/>
                <a:latin typeface="+mj-lt"/>
              </a:rPr>
              <a:t> is required for this study which was calculated under the prevalence of the study is </a:t>
            </a:r>
            <a:r>
              <a:rPr lang="en-US" dirty="0">
                <a:latin typeface="+mj-lt"/>
              </a:rPr>
              <a:t>25</a:t>
            </a:r>
            <a:r>
              <a:rPr lang="en-US" b="0" i="0" u="none" strike="noStrike" dirty="0">
                <a:effectLst/>
                <a:latin typeface="+mj-lt"/>
              </a:rPr>
              <a:t>%, 95% confidence interval for a single population proportion, and a 5% level of precision under the population size is 6837. </a:t>
            </a:r>
            <a:r>
              <a:rPr lang="en-US" b="0" i="1" u="none" strike="noStrike" dirty="0">
                <a:effectLst/>
                <a:latin typeface="+mj-lt"/>
              </a:rPr>
              <a:t>(Cochran, 1997)</a:t>
            </a:r>
          </a:p>
          <a:p>
            <a:pPr marL="285750" indent="-285750" algn="just" rtl="0" fontAlgn="base">
              <a:spcBef>
                <a:spcPts val="0"/>
              </a:spcBef>
              <a:spcAft>
                <a:spcPts val="0"/>
              </a:spcAft>
              <a:buFont typeface="Wingdings" panose="05000000000000000000" pitchFamily="2" charset="2"/>
              <a:buChar char="Ø"/>
            </a:pPr>
            <a:r>
              <a:rPr lang="en-US" b="0" i="0" u="none" strike="noStrike" cap="none" dirty="0">
                <a:ea typeface="Century Schoolbook"/>
                <a:cs typeface="Century Schoolbook"/>
                <a:sym typeface="Century Schoolbook"/>
              </a:rPr>
              <a:t>Basic Information about Respondents</a:t>
            </a:r>
          </a:p>
          <a:p>
            <a:pPr marL="742950" lvl="1" indent="-285750" algn="just" fontAlgn="base">
              <a:buFont typeface="Wingdings" panose="05000000000000000000" pitchFamily="2" charset="2"/>
              <a:buChar char="Ø"/>
            </a:pPr>
            <a:r>
              <a:rPr lang="en-US" b="0" i="0" u="none" strike="noStrike" cap="none" dirty="0">
                <a:ea typeface="Century Schoolbook"/>
                <a:cs typeface="Century Schoolbook"/>
                <a:sym typeface="Century Schoolbook"/>
              </a:rPr>
              <a:t>Age, gender, class, name of the course, urbanity, annual income, family type, first graduate, current degree percentage, and whether respondents grownup with Parents. </a:t>
            </a:r>
          </a:p>
          <a:p>
            <a:pPr marL="285750" indent="-285750" algn="just" rtl="0" fontAlgn="base">
              <a:spcBef>
                <a:spcPts val="0"/>
              </a:spcBef>
              <a:spcAft>
                <a:spcPts val="0"/>
              </a:spcAft>
              <a:buFont typeface="Wingdings" panose="05000000000000000000" pitchFamily="2" charset="2"/>
              <a:buChar char="Ø"/>
            </a:pPr>
            <a:r>
              <a:rPr lang="en-US" b="0" i="0" u="none" strike="noStrike" cap="none" dirty="0">
                <a:ea typeface="Century Schoolbook"/>
                <a:cs typeface="Century Schoolbook"/>
                <a:sym typeface="Century Schoolbook"/>
              </a:rPr>
              <a:t>The modified version of the Adverse Childhood Experiences questionnaire and Cognitive Emotional Regulation questionnaire, both of which are based on Standardized measures, were utilized as research tools.</a:t>
            </a:r>
          </a:p>
          <a:p>
            <a:pPr marL="285750" indent="-285750" algn="just" rtl="0" fontAlgn="base">
              <a:spcBef>
                <a:spcPts val="0"/>
              </a:spcBef>
              <a:spcAft>
                <a:spcPts val="0"/>
              </a:spcAft>
              <a:buFont typeface="Wingdings" panose="05000000000000000000" pitchFamily="2" charset="2"/>
              <a:buChar char="Ø"/>
            </a:pPr>
            <a:endParaRPr b="0" i="0" u="none" strike="noStrike" cap="none" dirty="0">
              <a:latin typeface="+mj-lt"/>
              <a:ea typeface="Century Schoolbook"/>
              <a:cs typeface="Century Schoolbook"/>
              <a:sym typeface="Century Schoolbook"/>
            </a:endParaRPr>
          </a:p>
          <a:p>
            <a:pPr marL="0" marR="0" lvl="0" indent="0" algn="l" rtl="0">
              <a:lnSpc>
                <a:spcPct val="100000"/>
              </a:lnSpc>
              <a:spcBef>
                <a:spcPts val="0"/>
              </a:spcBef>
              <a:spcAft>
                <a:spcPts val="0"/>
              </a:spcAft>
              <a:buClr>
                <a:srgbClr val="000000"/>
              </a:buClr>
              <a:buSzPts val="2100"/>
              <a:buFont typeface="Arial"/>
              <a:buNone/>
            </a:pPr>
            <a:endParaRPr sz="2100" b="0" i="0" u="none" strike="noStrike" cap="none" dirty="0">
              <a:solidFill>
                <a:schemeClr val="lt1"/>
              </a:solidFill>
              <a:latin typeface="Century Schoolbook"/>
              <a:ea typeface="Century Schoolbook"/>
              <a:cs typeface="Century Schoolbook"/>
              <a:sym typeface="Century Schoolbook"/>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3" name="Title 1"/>
          <p:cNvSpPr>
            <a:spLocks noGrp="1"/>
          </p:cNvSpPr>
          <p:nvPr>
            <p:ph type="title"/>
          </p:nvPr>
        </p:nvSpPr>
        <p:spPr>
          <a:xfrm>
            <a:off x="409296" y="94499"/>
            <a:ext cx="7055380" cy="848181"/>
          </a:xfrm>
        </p:spPr>
        <p:txBody>
          <a:bodyPr/>
          <a:lstStyle/>
          <a:p>
            <a:r>
              <a:rPr lang="en-IN" sz="3200" b="1" dirty="0">
                <a:solidFill>
                  <a:srgbClr val="FF0000"/>
                </a:solidFill>
              </a:rPr>
              <a:t>Results: Reliability &amp; Validity, Frequency Measure</a:t>
            </a:r>
          </a:p>
        </p:txBody>
      </p:sp>
      <p:graphicFrame>
        <p:nvGraphicFramePr>
          <p:cNvPr id="4194304" name="Chart 3"/>
          <p:cNvGraphicFramePr>
            <a:graphicFrameLocks/>
          </p:cNvGraphicFramePr>
          <p:nvPr/>
        </p:nvGraphicFramePr>
        <p:xfrm>
          <a:off x="-159509" y="3706496"/>
          <a:ext cx="5645908" cy="3151504"/>
        </p:xfrm>
        <a:graphic>
          <a:graphicData uri="http://schemas.openxmlformats.org/drawingml/2006/chart">
            <c:chart xmlns:c="http://schemas.openxmlformats.org/drawingml/2006/chart" xmlns:r="http://schemas.openxmlformats.org/officeDocument/2006/relationships" r:id="rId2"/>
          </a:graphicData>
        </a:graphic>
      </p:graphicFrame>
      <p:pic>
        <p:nvPicPr>
          <p:cNvPr id="2097156" name="Picture 8"/>
          <p:cNvPicPr>
            <a:picLocks noChangeAspect="1"/>
          </p:cNvPicPr>
          <p:nvPr/>
        </p:nvPicPr>
        <p:blipFill>
          <a:blip r:embed="rId3"/>
          <a:srcRect/>
          <a:stretch>
            <a:fillRect/>
          </a:stretch>
        </p:blipFill>
        <p:spPr bwMode="auto">
          <a:xfrm>
            <a:off x="5276654" y="3764123"/>
            <a:ext cx="3867346" cy="3093877"/>
          </a:xfrm>
          <a:prstGeom prst="rect">
            <a:avLst/>
          </a:prstGeom>
          <a:noFill/>
          <a:ln>
            <a:noFill/>
          </a:ln>
        </p:spPr>
      </p:pic>
      <p:graphicFrame>
        <p:nvGraphicFramePr>
          <p:cNvPr id="4194305" name="Table 2"/>
          <p:cNvGraphicFramePr>
            <a:graphicFrameLocks noGrp="1"/>
          </p:cNvGraphicFramePr>
          <p:nvPr/>
        </p:nvGraphicFramePr>
        <p:xfrm>
          <a:off x="116315" y="1277255"/>
          <a:ext cx="7217739" cy="2346586"/>
        </p:xfrm>
        <a:graphic>
          <a:graphicData uri="http://schemas.openxmlformats.org/drawingml/2006/table">
            <a:tbl>
              <a:tblPr firstRow="1" firstCol="1" bandRow="1">
                <a:tableStyleId>{5C22544A-7EE6-4342-B048-85BDC9FD1C3A}</a:tableStyleId>
              </a:tblPr>
              <a:tblGrid>
                <a:gridCol w="1167415">
                  <a:extLst>
                    <a:ext uri="{9D8B030D-6E8A-4147-A177-3AD203B41FA5}">
                      <a16:colId xmlns:a16="http://schemas.microsoft.com/office/drawing/2014/main" val="20000"/>
                    </a:ext>
                  </a:extLst>
                </a:gridCol>
                <a:gridCol w="879745">
                  <a:extLst>
                    <a:ext uri="{9D8B030D-6E8A-4147-A177-3AD203B41FA5}">
                      <a16:colId xmlns:a16="http://schemas.microsoft.com/office/drawing/2014/main" val="20001"/>
                    </a:ext>
                  </a:extLst>
                </a:gridCol>
                <a:gridCol w="622463">
                  <a:extLst>
                    <a:ext uri="{9D8B030D-6E8A-4147-A177-3AD203B41FA5}">
                      <a16:colId xmlns:a16="http://schemas.microsoft.com/office/drawing/2014/main" val="20002"/>
                    </a:ext>
                  </a:extLst>
                </a:gridCol>
                <a:gridCol w="472217">
                  <a:extLst>
                    <a:ext uri="{9D8B030D-6E8A-4147-A177-3AD203B41FA5}">
                      <a16:colId xmlns:a16="http://schemas.microsoft.com/office/drawing/2014/main" val="20003"/>
                    </a:ext>
                  </a:extLst>
                </a:gridCol>
                <a:gridCol w="1358633">
                  <a:extLst>
                    <a:ext uri="{9D8B030D-6E8A-4147-A177-3AD203B41FA5}">
                      <a16:colId xmlns:a16="http://schemas.microsoft.com/office/drawing/2014/main" val="20004"/>
                    </a:ext>
                  </a:extLst>
                </a:gridCol>
                <a:gridCol w="1358633">
                  <a:extLst>
                    <a:ext uri="{9D8B030D-6E8A-4147-A177-3AD203B41FA5}">
                      <a16:colId xmlns:a16="http://schemas.microsoft.com/office/drawing/2014/main" val="20005"/>
                    </a:ext>
                  </a:extLst>
                </a:gridCol>
                <a:gridCol w="1358633">
                  <a:extLst>
                    <a:ext uri="{9D8B030D-6E8A-4147-A177-3AD203B41FA5}">
                      <a16:colId xmlns:a16="http://schemas.microsoft.com/office/drawing/2014/main" val="20006"/>
                    </a:ext>
                  </a:extLst>
                </a:gridCol>
              </a:tblGrid>
              <a:tr h="343118">
                <a:tc rowSpan="2">
                  <a:txBody>
                    <a:bodyPr/>
                    <a:lstStyle/>
                    <a:p>
                      <a:pPr>
                        <a:lnSpc>
                          <a:spcPct val="107000"/>
                        </a:lnSpc>
                        <a:spcAft>
                          <a:spcPts val="800"/>
                        </a:spcAft>
                      </a:pPr>
                      <a:r>
                        <a:rPr lang="en-IN" sz="1200">
                          <a:effectLst/>
                        </a:rPr>
                        <a:t>Variable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7481" marR="67481" marT="9372" marB="0"/>
                </a:tc>
                <a:tc rowSpan="2">
                  <a:txBody>
                    <a:bodyPr/>
                    <a:lstStyle/>
                    <a:p>
                      <a:pPr>
                        <a:lnSpc>
                          <a:spcPct val="107000"/>
                        </a:lnSpc>
                        <a:spcAft>
                          <a:spcPts val="800"/>
                        </a:spcAft>
                      </a:pPr>
                      <a:r>
                        <a:rPr lang="en-IN" sz="1200" dirty="0">
                          <a:effectLst/>
                        </a:rPr>
                        <a:t>Reliability of the Scale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7481" marR="67481" marT="9372" marB="0"/>
                </a:tc>
                <a:tc gridSpan="2">
                  <a:txBody>
                    <a:bodyPr/>
                    <a:lstStyle/>
                    <a:p>
                      <a:pPr>
                        <a:lnSpc>
                          <a:spcPct val="107000"/>
                        </a:lnSpc>
                        <a:spcAft>
                          <a:spcPts val="800"/>
                        </a:spcAft>
                      </a:pPr>
                      <a:r>
                        <a:rPr lang="en-IN" sz="1200" dirty="0">
                          <a:effectLst/>
                        </a:rPr>
                        <a:t>Inter-item Correlations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hMerge="1">
                  <a:txBody>
                    <a:bodyPr/>
                    <a:lstStyle/>
                    <a:p>
                      <a:endParaRPr lang="en-IN"/>
                    </a:p>
                  </a:txBody>
                  <a:tcPr/>
                </a:tc>
                <a:tc gridSpan="3">
                  <a:txBody>
                    <a:bodyPr/>
                    <a:lstStyle/>
                    <a:p>
                      <a:pPr>
                        <a:lnSpc>
                          <a:spcPct val="107000"/>
                        </a:lnSpc>
                        <a:spcAft>
                          <a:spcPts val="800"/>
                        </a:spcAft>
                      </a:pPr>
                      <a:r>
                        <a:rPr lang="en-IN" sz="1200" dirty="0">
                          <a:effectLst/>
                        </a:rPr>
                        <a:t>Validity of the Content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7481" marR="67481" marT="9372"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0"/>
                  </a:ext>
                </a:extLst>
              </a:tr>
              <a:tr h="351666">
                <a:tc vMerge="1">
                  <a:txBody>
                    <a:bodyPr/>
                    <a:lstStyle/>
                    <a:p>
                      <a:endParaRPr lang="en-IN"/>
                    </a:p>
                  </a:txBody>
                  <a:tcPr/>
                </a:tc>
                <a:tc vMerge="1">
                  <a:txBody>
                    <a:bodyPr/>
                    <a:lstStyle/>
                    <a:p>
                      <a:endParaRPr lang="en-IN"/>
                    </a:p>
                  </a:txBody>
                  <a:tcPr/>
                </a:tc>
                <a:tc>
                  <a:txBody>
                    <a:bodyPr/>
                    <a:lstStyle/>
                    <a:p>
                      <a:pPr>
                        <a:lnSpc>
                          <a:spcPct val="107000"/>
                        </a:lnSpc>
                        <a:spcAft>
                          <a:spcPts val="800"/>
                        </a:spcAft>
                      </a:pPr>
                      <a:r>
                        <a:rPr lang="en-IN" sz="1200" dirty="0">
                          <a:effectLst/>
                        </a:rPr>
                        <a:t>Min</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200" dirty="0">
                          <a:effectLst/>
                        </a:rPr>
                        <a:t>Max</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200" dirty="0">
                          <a:effectLst/>
                        </a:rPr>
                        <a:t>Kaiser-Meyer – </a:t>
                      </a:r>
                      <a:r>
                        <a:rPr lang="en-IN" sz="1200" dirty="0" err="1">
                          <a:effectLst/>
                        </a:rPr>
                        <a:t>Oklin</a:t>
                      </a:r>
                      <a:r>
                        <a:rPr lang="en-IN" sz="1200" dirty="0">
                          <a:effectLst/>
                        </a:rPr>
                        <a:t> (KMO)</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7481" marR="67481" marT="9372" marB="0"/>
                </a:tc>
                <a:tc>
                  <a:txBody>
                    <a:bodyPr/>
                    <a:lstStyle/>
                    <a:p>
                      <a:pPr>
                        <a:lnSpc>
                          <a:spcPct val="107000"/>
                        </a:lnSpc>
                        <a:spcAft>
                          <a:spcPts val="800"/>
                        </a:spcAft>
                      </a:pPr>
                      <a:r>
                        <a:rPr lang="en-IN" sz="1200" dirty="0">
                          <a:effectLst/>
                        </a:rPr>
                        <a:t>Bartlett's Test for Sphericity</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7481" marR="67481" marT="9372" marB="0"/>
                </a:tc>
                <a:tc>
                  <a:txBody>
                    <a:bodyPr/>
                    <a:lstStyle/>
                    <a:p>
                      <a:pPr>
                        <a:lnSpc>
                          <a:spcPct val="107000"/>
                        </a:lnSpc>
                        <a:spcAft>
                          <a:spcPts val="800"/>
                        </a:spcAft>
                      </a:pPr>
                      <a:r>
                        <a:rPr lang="en-IN" sz="1200" dirty="0">
                          <a:effectLst/>
                        </a:rPr>
                        <a:t>p-Value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7481" marR="67481" marT="9372" marB="0"/>
                </a:tc>
                <a:extLst>
                  <a:ext uri="{0D108BD9-81ED-4DB2-BD59-A6C34878D82A}">
                    <a16:rowId xmlns:a16="http://schemas.microsoft.com/office/drawing/2014/main" val="10001"/>
                  </a:ext>
                </a:extLst>
              </a:tr>
              <a:tr h="527653">
                <a:tc>
                  <a:txBody>
                    <a:bodyPr/>
                    <a:lstStyle/>
                    <a:p>
                      <a:pPr>
                        <a:lnSpc>
                          <a:spcPct val="107000"/>
                        </a:lnSpc>
                        <a:spcAft>
                          <a:spcPts val="800"/>
                        </a:spcAft>
                      </a:pPr>
                      <a:r>
                        <a:rPr lang="en-IN" sz="1200">
                          <a:effectLst/>
                        </a:rPr>
                        <a:t>Adverse Childhood Experience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7481" marR="67481" marT="9372" marB="0"/>
                </a:tc>
                <a:tc>
                  <a:txBody>
                    <a:bodyPr/>
                    <a:lstStyle/>
                    <a:p>
                      <a:pPr>
                        <a:lnSpc>
                          <a:spcPct val="107000"/>
                        </a:lnSpc>
                        <a:spcAft>
                          <a:spcPts val="800"/>
                        </a:spcAft>
                      </a:pPr>
                      <a:r>
                        <a:rPr lang="en-IN" sz="1200">
                          <a:effectLst/>
                        </a:rPr>
                        <a:t>0.785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7481" marR="67481" marT="9372" marB="0"/>
                </a:tc>
                <a:tc>
                  <a:txBody>
                    <a:bodyPr/>
                    <a:lstStyle/>
                    <a:p>
                      <a:pPr>
                        <a:lnSpc>
                          <a:spcPct val="107000"/>
                        </a:lnSpc>
                        <a:spcAft>
                          <a:spcPts val="800"/>
                        </a:spcAft>
                      </a:pPr>
                      <a:r>
                        <a:rPr lang="en-IN" sz="1200">
                          <a:effectLst/>
                        </a:rPr>
                        <a:t>0.078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200">
                          <a:effectLst/>
                        </a:rPr>
                        <a:t>0.510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200">
                          <a:effectLst/>
                        </a:rPr>
                        <a:t>0.837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7481" marR="67481" marT="9372" marB="0"/>
                </a:tc>
                <a:tc>
                  <a:txBody>
                    <a:bodyPr/>
                    <a:lstStyle/>
                    <a:p>
                      <a:pPr>
                        <a:lnSpc>
                          <a:spcPct val="107000"/>
                        </a:lnSpc>
                        <a:spcAft>
                          <a:spcPts val="800"/>
                        </a:spcAft>
                      </a:pPr>
                      <a:r>
                        <a:rPr lang="en-IN" sz="1200">
                          <a:effectLst/>
                        </a:rPr>
                        <a:t>612.706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7481" marR="67481" marT="9372" marB="0"/>
                </a:tc>
                <a:tc>
                  <a:txBody>
                    <a:bodyPr/>
                    <a:lstStyle/>
                    <a:p>
                      <a:pPr>
                        <a:lnSpc>
                          <a:spcPct val="107000"/>
                        </a:lnSpc>
                        <a:spcAft>
                          <a:spcPts val="800"/>
                        </a:spcAft>
                      </a:pPr>
                      <a:r>
                        <a:rPr lang="en-IN" sz="1200">
                          <a:effectLst/>
                        </a:rPr>
                        <a:t>0.000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7481" marR="67481" marT="9372" marB="0"/>
                </a:tc>
                <a:extLst>
                  <a:ext uri="{0D108BD9-81ED-4DB2-BD59-A6C34878D82A}">
                    <a16:rowId xmlns:a16="http://schemas.microsoft.com/office/drawing/2014/main" val="10002"/>
                  </a:ext>
                </a:extLst>
              </a:tr>
              <a:tr h="527653">
                <a:tc>
                  <a:txBody>
                    <a:bodyPr/>
                    <a:lstStyle/>
                    <a:p>
                      <a:pPr>
                        <a:lnSpc>
                          <a:spcPct val="107000"/>
                        </a:lnSpc>
                        <a:spcAft>
                          <a:spcPts val="800"/>
                        </a:spcAft>
                      </a:pPr>
                      <a:r>
                        <a:rPr lang="en-IN" sz="1200">
                          <a:effectLst/>
                        </a:rPr>
                        <a:t>Cognitive Emotion Regulation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7481" marR="67481" marT="9372" marB="0"/>
                </a:tc>
                <a:tc>
                  <a:txBody>
                    <a:bodyPr/>
                    <a:lstStyle/>
                    <a:p>
                      <a:pPr>
                        <a:lnSpc>
                          <a:spcPct val="107000"/>
                        </a:lnSpc>
                        <a:spcAft>
                          <a:spcPts val="800"/>
                        </a:spcAft>
                      </a:pPr>
                      <a:r>
                        <a:rPr lang="en-IN" sz="1200">
                          <a:effectLst/>
                        </a:rPr>
                        <a:t>0.920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7481" marR="67481" marT="9372" marB="0"/>
                </a:tc>
                <a:tc>
                  <a:txBody>
                    <a:bodyPr/>
                    <a:lstStyle/>
                    <a:p>
                      <a:pPr>
                        <a:lnSpc>
                          <a:spcPct val="107000"/>
                        </a:lnSpc>
                        <a:spcAft>
                          <a:spcPts val="800"/>
                        </a:spcAft>
                      </a:pPr>
                      <a:r>
                        <a:rPr lang="en-IN" sz="1200">
                          <a:effectLst/>
                        </a:rPr>
                        <a:t>-0.021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200">
                          <a:effectLst/>
                        </a:rPr>
                        <a:t>0.709</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200">
                          <a:effectLst/>
                        </a:rPr>
                        <a:t>0.893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7481" marR="67481" marT="9372" marB="0"/>
                </a:tc>
                <a:tc>
                  <a:txBody>
                    <a:bodyPr/>
                    <a:lstStyle/>
                    <a:p>
                      <a:pPr>
                        <a:lnSpc>
                          <a:spcPct val="107000"/>
                        </a:lnSpc>
                        <a:spcAft>
                          <a:spcPts val="800"/>
                        </a:spcAft>
                      </a:pPr>
                      <a:r>
                        <a:rPr lang="en-IN" sz="1200">
                          <a:effectLst/>
                        </a:rPr>
                        <a:t>3474.542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7481" marR="67481" marT="9372" marB="0"/>
                </a:tc>
                <a:tc>
                  <a:txBody>
                    <a:bodyPr/>
                    <a:lstStyle/>
                    <a:p>
                      <a:pPr>
                        <a:lnSpc>
                          <a:spcPct val="107000"/>
                        </a:lnSpc>
                        <a:spcAft>
                          <a:spcPts val="800"/>
                        </a:spcAft>
                      </a:pPr>
                      <a:r>
                        <a:rPr lang="en-IN" sz="1200">
                          <a:effectLst/>
                        </a:rPr>
                        <a:t>0.000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7481" marR="67481" marT="9372" marB="0"/>
                </a:tc>
                <a:extLst>
                  <a:ext uri="{0D108BD9-81ED-4DB2-BD59-A6C34878D82A}">
                    <a16:rowId xmlns:a16="http://schemas.microsoft.com/office/drawing/2014/main" val="10003"/>
                  </a:ext>
                </a:extLst>
              </a:tr>
              <a:tr h="401657">
                <a:tc>
                  <a:txBody>
                    <a:bodyPr/>
                    <a:lstStyle/>
                    <a:p>
                      <a:pPr>
                        <a:lnSpc>
                          <a:spcPct val="107000"/>
                        </a:lnSpc>
                        <a:spcAft>
                          <a:spcPts val="800"/>
                        </a:spcAft>
                      </a:pPr>
                      <a:r>
                        <a:rPr lang="en-IN" sz="1200">
                          <a:effectLst/>
                        </a:rPr>
                        <a:t>Overall</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7481" marR="67481" marT="9372" marB="0"/>
                </a:tc>
                <a:tc>
                  <a:txBody>
                    <a:bodyPr/>
                    <a:lstStyle/>
                    <a:p>
                      <a:pPr>
                        <a:lnSpc>
                          <a:spcPct val="107000"/>
                        </a:lnSpc>
                        <a:spcAft>
                          <a:spcPts val="800"/>
                        </a:spcAft>
                      </a:pPr>
                      <a:r>
                        <a:rPr lang="en-IN" sz="1200" dirty="0">
                          <a:effectLst/>
                        </a:rPr>
                        <a:t>0.912</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7481" marR="67481" marT="9372" marB="0"/>
                </a:tc>
                <a:tc>
                  <a:txBody>
                    <a:bodyPr/>
                    <a:lstStyle/>
                    <a:p>
                      <a:pPr>
                        <a:lnSpc>
                          <a:spcPct val="107000"/>
                        </a:lnSpc>
                        <a:spcAft>
                          <a:spcPts val="800"/>
                        </a:spcAft>
                      </a:pPr>
                      <a:r>
                        <a:rPr lang="en-IN" sz="1200">
                          <a:effectLst/>
                        </a:rPr>
                        <a:t>-0.133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200">
                          <a:effectLst/>
                        </a:rPr>
                        <a:t>0.709</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200" dirty="0">
                          <a:effectLst/>
                        </a:rPr>
                        <a:t>0.868</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7481" marR="67481" marT="9372" marB="0"/>
                </a:tc>
                <a:tc>
                  <a:txBody>
                    <a:bodyPr/>
                    <a:lstStyle/>
                    <a:p>
                      <a:pPr>
                        <a:lnSpc>
                          <a:spcPct val="107000"/>
                        </a:lnSpc>
                        <a:spcAft>
                          <a:spcPts val="800"/>
                        </a:spcAft>
                      </a:pPr>
                      <a:r>
                        <a:rPr lang="en-IN" sz="1200" dirty="0">
                          <a:effectLst/>
                        </a:rPr>
                        <a:t>4369.143</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7481" marR="67481" marT="9372" marB="0"/>
                </a:tc>
                <a:tc>
                  <a:txBody>
                    <a:bodyPr/>
                    <a:lstStyle/>
                    <a:p>
                      <a:pPr>
                        <a:lnSpc>
                          <a:spcPct val="107000"/>
                        </a:lnSpc>
                        <a:spcAft>
                          <a:spcPts val="800"/>
                        </a:spcAft>
                      </a:pPr>
                      <a:r>
                        <a:rPr lang="en-IN" sz="1200" dirty="0">
                          <a:effectLst/>
                        </a:rPr>
                        <a:t>0.000</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7481" marR="67481" marT="9372" marB="0"/>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4" name="Title 1"/>
          <p:cNvSpPr>
            <a:spLocks noGrp="1"/>
          </p:cNvSpPr>
          <p:nvPr>
            <p:ph type="title"/>
          </p:nvPr>
        </p:nvSpPr>
        <p:spPr>
          <a:xfrm>
            <a:off x="447003" y="132207"/>
            <a:ext cx="7055380" cy="810474"/>
          </a:xfrm>
        </p:spPr>
        <p:txBody>
          <a:bodyPr/>
          <a:lstStyle/>
          <a:p>
            <a:r>
              <a:rPr lang="en-IN" sz="2000" b="1" dirty="0">
                <a:solidFill>
                  <a:srgbClr val="FF0000"/>
                </a:solidFill>
              </a:rPr>
              <a:t>Results: Association between Adverse Childhood Experience with Demographic Characters</a:t>
            </a:r>
          </a:p>
        </p:txBody>
      </p:sp>
      <p:graphicFrame>
        <p:nvGraphicFramePr>
          <p:cNvPr id="4194306" name="Chart 2"/>
          <p:cNvGraphicFramePr>
            <a:graphicFrameLocks/>
          </p:cNvGraphicFramePr>
          <p:nvPr/>
        </p:nvGraphicFramePr>
        <p:xfrm>
          <a:off x="0" y="888476"/>
          <a:ext cx="7662640" cy="5081047"/>
        </p:xfrm>
        <a:graphic>
          <a:graphicData uri="http://schemas.openxmlformats.org/drawingml/2006/chart">
            <c:chart xmlns:c="http://schemas.openxmlformats.org/drawingml/2006/chart" xmlns:r="http://schemas.openxmlformats.org/officeDocument/2006/relationships" r:id="rId2"/>
          </a:graphicData>
        </a:graphic>
      </p:graphicFrame>
      <p:sp>
        <p:nvSpPr>
          <p:cNvPr id="1048615" name="Google Shape;130;p6"/>
          <p:cNvSpPr txBox="1"/>
          <p:nvPr/>
        </p:nvSpPr>
        <p:spPr>
          <a:xfrm>
            <a:off x="84841" y="5969523"/>
            <a:ext cx="8974318" cy="830956"/>
          </a:xfrm>
          <a:prstGeom prst="rect">
            <a:avLst/>
          </a:prstGeom>
          <a:noFill/>
          <a:ln>
            <a:noFill/>
          </a:ln>
        </p:spPr>
        <p:txBody>
          <a:bodyPr spcFirstLastPara="1" wrap="square" lIns="91425" tIns="45700" rIns="91425" bIns="45700" anchor="t" anchorCtr="0">
            <a:spAutoFit/>
          </a:bodyPr>
          <a:lstStyle/>
          <a:p>
            <a:pPr marR="0" lvl="0" algn="just" rtl="0">
              <a:lnSpc>
                <a:spcPct val="100000"/>
              </a:lnSpc>
              <a:spcBef>
                <a:spcPts val="0"/>
              </a:spcBef>
              <a:spcAft>
                <a:spcPts val="0"/>
              </a:spcAft>
              <a:buClr>
                <a:schemeClr val="dk1"/>
              </a:buClr>
              <a:buSzPts val="1900"/>
            </a:pPr>
            <a:r>
              <a:rPr lang="en-US" sz="1600" b="0" i="0" u="none" strike="noStrike" cap="none" dirty="0">
                <a:ea typeface="Century Schoolbook"/>
                <a:cs typeface="Century Schoolbook"/>
                <a:sym typeface="Century Schoolbook"/>
              </a:rPr>
              <a:t>First Graduate in the Family is associated with the level of Adverse Childhood Experience(0.000&lt;0.001) whereas the remaining demographic characters are not associated with a level of adverse childhood experience.   </a:t>
            </a:r>
            <a:endParaRPr sz="1600" b="0" i="0" u="none" strike="noStrike" cap="none" dirty="0">
              <a:solidFill>
                <a:schemeClr val="dk1"/>
              </a:solidFill>
              <a:latin typeface="Century Schoolbook"/>
              <a:ea typeface="Century Schoolbook"/>
              <a:cs typeface="Century Schoolbook"/>
              <a:sym typeface="Century Schoolbook"/>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6" name="Title 1"/>
          <p:cNvSpPr>
            <a:spLocks noGrp="1"/>
          </p:cNvSpPr>
          <p:nvPr>
            <p:ph type="title"/>
          </p:nvPr>
        </p:nvSpPr>
        <p:spPr>
          <a:xfrm>
            <a:off x="550698" y="94499"/>
            <a:ext cx="7055380" cy="1168692"/>
          </a:xfrm>
        </p:spPr>
        <p:txBody>
          <a:bodyPr/>
          <a:lstStyle/>
          <a:p>
            <a:r>
              <a:rPr lang="en-IN" sz="2400" b="1" dirty="0">
                <a:solidFill>
                  <a:srgbClr val="FF0000"/>
                </a:solidFill>
              </a:rPr>
              <a:t>Results: Mean Comparison between Adverse Childhood Experience and Cognitive Emotional Regulation with Demographic Characters</a:t>
            </a:r>
            <a:endParaRPr lang="en-IN" sz="2400" dirty="0"/>
          </a:p>
        </p:txBody>
      </p:sp>
      <p:graphicFrame>
        <p:nvGraphicFramePr>
          <p:cNvPr id="4194307" name="Table 2"/>
          <p:cNvGraphicFramePr>
            <a:graphicFrameLocks noGrp="1"/>
          </p:cNvGraphicFramePr>
          <p:nvPr/>
        </p:nvGraphicFramePr>
        <p:xfrm>
          <a:off x="192039" y="2448673"/>
          <a:ext cx="4700472" cy="2143144"/>
        </p:xfrm>
        <a:graphic>
          <a:graphicData uri="http://schemas.openxmlformats.org/drawingml/2006/table">
            <a:tbl>
              <a:tblPr firstRow="1" firstCol="1" bandRow="1">
                <a:tableStyleId>{5C22544A-7EE6-4342-B048-85BDC9FD1C3A}</a:tableStyleId>
              </a:tblPr>
              <a:tblGrid>
                <a:gridCol w="1998641">
                  <a:extLst>
                    <a:ext uri="{9D8B030D-6E8A-4147-A177-3AD203B41FA5}">
                      <a16:colId xmlns:a16="http://schemas.microsoft.com/office/drawing/2014/main" val="20000"/>
                    </a:ext>
                  </a:extLst>
                </a:gridCol>
                <a:gridCol w="1365957">
                  <a:extLst>
                    <a:ext uri="{9D8B030D-6E8A-4147-A177-3AD203B41FA5}">
                      <a16:colId xmlns:a16="http://schemas.microsoft.com/office/drawing/2014/main" val="20001"/>
                    </a:ext>
                  </a:extLst>
                </a:gridCol>
                <a:gridCol w="1335874">
                  <a:extLst>
                    <a:ext uri="{9D8B030D-6E8A-4147-A177-3AD203B41FA5}">
                      <a16:colId xmlns:a16="http://schemas.microsoft.com/office/drawing/2014/main" val="20002"/>
                    </a:ext>
                  </a:extLst>
                </a:gridCol>
              </a:tblGrid>
              <a:tr h="392377">
                <a:tc rowSpan="2">
                  <a:txBody>
                    <a:bodyPr/>
                    <a:lstStyle/>
                    <a:p>
                      <a:pPr algn="ctr">
                        <a:lnSpc>
                          <a:spcPct val="107000"/>
                        </a:lnSpc>
                        <a:spcAft>
                          <a:spcPts val="800"/>
                        </a:spcAft>
                      </a:pPr>
                      <a:r>
                        <a:rPr lang="en-IN" sz="1200">
                          <a:effectLst/>
                        </a:rPr>
                        <a:t>Grouping Variable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2">
                  <a:txBody>
                    <a:bodyPr/>
                    <a:lstStyle/>
                    <a:p>
                      <a:pPr algn="ctr">
                        <a:lnSpc>
                          <a:spcPct val="107000"/>
                        </a:lnSpc>
                        <a:spcAft>
                          <a:spcPts val="800"/>
                        </a:spcAft>
                      </a:pPr>
                      <a:r>
                        <a:rPr lang="en-IN" sz="1200">
                          <a:effectLst/>
                        </a:rPr>
                        <a:t>Mann-Whitney Test - Asymptotic Significance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extLst>
                  <a:ext uri="{0D108BD9-81ED-4DB2-BD59-A6C34878D82A}">
                    <a16:rowId xmlns:a16="http://schemas.microsoft.com/office/drawing/2014/main" val="10000"/>
                  </a:ext>
                </a:extLst>
              </a:tr>
              <a:tr h="593890">
                <a:tc vMerge="1">
                  <a:txBody>
                    <a:bodyPr/>
                    <a:lstStyle/>
                    <a:p>
                      <a:endParaRPr lang="en-IN"/>
                    </a:p>
                  </a:txBody>
                  <a:tcPr/>
                </a:tc>
                <a:tc>
                  <a:txBody>
                    <a:bodyPr/>
                    <a:lstStyle/>
                    <a:p>
                      <a:pPr algn="ctr">
                        <a:lnSpc>
                          <a:spcPct val="107000"/>
                        </a:lnSpc>
                        <a:spcAft>
                          <a:spcPts val="800"/>
                        </a:spcAft>
                        <a:tabLst>
                          <a:tab pos="691515" algn="ctr"/>
                        </a:tabLst>
                      </a:pPr>
                      <a:r>
                        <a:rPr lang="en-IN" sz="1200">
                          <a:effectLst/>
                        </a:rPr>
                        <a:t>Adverse Childhood Experience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tabLst>
                          <a:tab pos="691515" algn="ctr"/>
                        </a:tabLst>
                      </a:pPr>
                      <a:r>
                        <a:rPr lang="en-IN" sz="1200" dirty="0">
                          <a:effectLst/>
                        </a:rPr>
                        <a:t>Cognitive Emotion Regulation</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191125">
                <a:tc>
                  <a:txBody>
                    <a:bodyPr/>
                    <a:lstStyle/>
                    <a:p>
                      <a:pPr>
                        <a:lnSpc>
                          <a:spcPct val="107000"/>
                        </a:lnSpc>
                        <a:spcAft>
                          <a:spcPts val="800"/>
                        </a:spcAft>
                      </a:pPr>
                      <a:r>
                        <a:rPr lang="en-IN" sz="1200">
                          <a:effectLst/>
                        </a:rPr>
                        <a:t>Gender</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7000"/>
                        </a:lnSpc>
                        <a:spcAft>
                          <a:spcPts val="800"/>
                        </a:spcAft>
                      </a:pPr>
                      <a:r>
                        <a:rPr lang="en-IN" sz="1200">
                          <a:effectLst/>
                        </a:rPr>
                        <a:t>0.752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7000"/>
                        </a:lnSpc>
                        <a:spcAft>
                          <a:spcPts val="800"/>
                        </a:spcAft>
                      </a:pPr>
                      <a:r>
                        <a:rPr lang="en-IN" sz="1200" dirty="0">
                          <a:effectLst/>
                        </a:rPr>
                        <a:t>0.251</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191125">
                <a:tc>
                  <a:txBody>
                    <a:bodyPr/>
                    <a:lstStyle/>
                    <a:p>
                      <a:pPr>
                        <a:lnSpc>
                          <a:spcPct val="107000"/>
                        </a:lnSpc>
                        <a:spcAft>
                          <a:spcPts val="800"/>
                        </a:spcAft>
                      </a:pPr>
                      <a:r>
                        <a:rPr lang="en-IN" sz="1200">
                          <a:effectLst/>
                        </a:rPr>
                        <a:t>Class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7000"/>
                        </a:lnSpc>
                        <a:spcAft>
                          <a:spcPts val="800"/>
                        </a:spcAft>
                      </a:pPr>
                      <a:r>
                        <a:rPr lang="en-IN" sz="1200">
                          <a:effectLst/>
                        </a:rPr>
                        <a:t>0.343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7000"/>
                        </a:lnSpc>
                        <a:spcAft>
                          <a:spcPts val="800"/>
                        </a:spcAft>
                      </a:pPr>
                      <a:r>
                        <a:rPr lang="en-IN" sz="1200" dirty="0">
                          <a:effectLst/>
                        </a:rPr>
                        <a:t>0.759</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191125">
                <a:tc>
                  <a:txBody>
                    <a:bodyPr/>
                    <a:lstStyle/>
                    <a:p>
                      <a:pPr>
                        <a:lnSpc>
                          <a:spcPct val="107000"/>
                        </a:lnSpc>
                        <a:spcAft>
                          <a:spcPts val="800"/>
                        </a:spcAft>
                      </a:pPr>
                      <a:r>
                        <a:rPr lang="en-IN" sz="1200">
                          <a:effectLst/>
                        </a:rPr>
                        <a:t>Urbanity</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7000"/>
                        </a:lnSpc>
                        <a:spcAft>
                          <a:spcPts val="800"/>
                        </a:spcAft>
                      </a:pPr>
                      <a:r>
                        <a:rPr lang="en-IN" sz="1200">
                          <a:effectLst/>
                        </a:rPr>
                        <a:t>0.404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7000"/>
                        </a:lnSpc>
                        <a:spcAft>
                          <a:spcPts val="800"/>
                        </a:spcAft>
                      </a:pPr>
                      <a:r>
                        <a:rPr lang="en-IN" sz="1200" dirty="0">
                          <a:effectLst/>
                        </a:rPr>
                        <a:t>0.336</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191125">
                <a:tc>
                  <a:txBody>
                    <a:bodyPr/>
                    <a:lstStyle/>
                    <a:p>
                      <a:pPr>
                        <a:lnSpc>
                          <a:spcPct val="107000"/>
                        </a:lnSpc>
                        <a:spcAft>
                          <a:spcPts val="800"/>
                        </a:spcAft>
                      </a:pPr>
                      <a:r>
                        <a:rPr lang="en-IN" sz="1200">
                          <a:effectLst/>
                        </a:rPr>
                        <a:t>Growing Up with Parent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7000"/>
                        </a:lnSpc>
                        <a:spcAft>
                          <a:spcPts val="800"/>
                        </a:spcAft>
                      </a:pPr>
                      <a:r>
                        <a:rPr lang="en-IN" sz="1200">
                          <a:effectLst/>
                        </a:rPr>
                        <a:t>0.424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7000"/>
                        </a:lnSpc>
                        <a:spcAft>
                          <a:spcPts val="800"/>
                        </a:spcAft>
                      </a:pPr>
                      <a:r>
                        <a:rPr lang="en-IN" sz="1200">
                          <a:effectLst/>
                        </a:rPr>
                        <a:t>0.463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392377">
                <a:tc>
                  <a:txBody>
                    <a:bodyPr/>
                    <a:lstStyle/>
                    <a:p>
                      <a:pPr>
                        <a:lnSpc>
                          <a:spcPct val="107000"/>
                        </a:lnSpc>
                        <a:spcAft>
                          <a:spcPts val="800"/>
                        </a:spcAft>
                      </a:pPr>
                      <a:r>
                        <a:rPr lang="en-IN" sz="1200">
                          <a:effectLst/>
                        </a:rPr>
                        <a:t>First Graduate of the family</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7000"/>
                        </a:lnSpc>
                        <a:spcAft>
                          <a:spcPts val="800"/>
                        </a:spcAft>
                      </a:pPr>
                      <a:r>
                        <a:rPr lang="en-IN" sz="1200">
                          <a:effectLst/>
                        </a:rPr>
                        <a:t>0.021*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7000"/>
                        </a:lnSpc>
                        <a:spcAft>
                          <a:spcPts val="800"/>
                        </a:spcAft>
                      </a:pPr>
                      <a:r>
                        <a:rPr lang="en-IN" sz="1200" dirty="0">
                          <a:effectLst/>
                        </a:rPr>
                        <a:t>0.773</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bl>
          </a:graphicData>
        </a:graphic>
      </p:graphicFrame>
      <p:graphicFrame>
        <p:nvGraphicFramePr>
          <p:cNvPr id="4194308" name="Table 3"/>
          <p:cNvGraphicFramePr>
            <a:graphicFrameLocks noGrp="1"/>
          </p:cNvGraphicFramePr>
          <p:nvPr/>
        </p:nvGraphicFramePr>
        <p:xfrm>
          <a:off x="4892511" y="4326903"/>
          <a:ext cx="4191423" cy="2281285"/>
        </p:xfrm>
        <a:graphic>
          <a:graphicData uri="http://schemas.openxmlformats.org/drawingml/2006/table">
            <a:tbl>
              <a:tblPr firstRow="1" firstCol="1" bandRow="1">
                <a:tableStyleId>{5C22544A-7EE6-4342-B048-85BDC9FD1C3A}</a:tableStyleId>
              </a:tblPr>
              <a:tblGrid>
                <a:gridCol w="1782193">
                  <a:extLst>
                    <a:ext uri="{9D8B030D-6E8A-4147-A177-3AD203B41FA5}">
                      <a16:colId xmlns:a16="http://schemas.microsoft.com/office/drawing/2014/main" val="20000"/>
                    </a:ext>
                  </a:extLst>
                </a:gridCol>
                <a:gridCol w="1217189">
                  <a:extLst>
                    <a:ext uri="{9D8B030D-6E8A-4147-A177-3AD203B41FA5}">
                      <a16:colId xmlns:a16="http://schemas.microsoft.com/office/drawing/2014/main" val="20001"/>
                    </a:ext>
                  </a:extLst>
                </a:gridCol>
                <a:gridCol w="1192041">
                  <a:extLst>
                    <a:ext uri="{9D8B030D-6E8A-4147-A177-3AD203B41FA5}">
                      <a16:colId xmlns:a16="http://schemas.microsoft.com/office/drawing/2014/main" val="20002"/>
                    </a:ext>
                  </a:extLst>
                </a:gridCol>
              </a:tblGrid>
              <a:tr h="508335">
                <a:tc rowSpan="2">
                  <a:txBody>
                    <a:bodyPr/>
                    <a:lstStyle/>
                    <a:p>
                      <a:pPr algn="ctr">
                        <a:lnSpc>
                          <a:spcPct val="107000"/>
                        </a:lnSpc>
                        <a:spcAft>
                          <a:spcPts val="800"/>
                        </a:spcAft>
                      </a:pPr>
                      <a:r>
                        <a:rPr lang="en-IN" sz="1200" dirty="0">
                          <a:effectLst/>
                        </a:rPr>
                        <a:t>Grouping Variable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2">
                  <a:txBody>
                    <a:bodyPr/>
                    <a:lstStyle/>
                    <a:p>
                      <a:pPr algn="ctr">
                        <a:lnSpc>
                          <a:spcPct val="107000"/>
                        </a:lnSpc>
                        <a:spcAft>
                          <a:spcPts val="800"/>
                        </a:spcAft>
                      </a:pPr>
                      <a:r>
                        <a:rPr lang="en-IN" sz="1200">
                          <a:effectLst/>
                        </a:rPr>
                        <a:t>Kruskal-Wallis Test - Asymptotic Significance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extLst>
                  <a:ext uri="{0D108BD9-81ED-4DB2-BD59-A6C34878D82A}">
                    <a16:rowId xmlns:a16="http://schemas.microsoft.com/office/drawing/2014/main" val="10000"/>
                  </a:ext>
                </a:extLst>
              </a:tr>
              <a:tr h="769401">
                <a:tc vMerge="1">
                  <a:txBody>
                    <a:bodyPr/>
                    <a:lstStyle/>
                    <a:p>
                      <a:endParaRPr lang="en-IN"/>
                    </a:p>
                  </a:txBody>
                  <a:tcPr/>
                </a:tc>
                <a:tc>
                  <a:txBody>
                    <a:bodyPr/>
                    <a:lstStyle/>
                    <a:p>
                      <a:pPr algn="ctr">
                        <a:lnSpc>
                          <a:spcPct val="107000"/>
                        </a:lnSpc>
                        <a:spcAft>
                          <a:spcPts val="800"/>
                        </a:spcAft>
                        <a:tabLst>
                          <a:tab pos="691515" algn="ctr"/>
                        </a:tabLst>
                      </a:pPr>
                      <a:r>
                        <a:rPr lang="en-IN" sz="1200" dirty="0">
                          <a:effectLst/>
                        </a:rPr>
                        <a:t>Adverse Childhood Experience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tabLst>
                          <a:tab pos="691515" algn="ctr"/>
                        </a:tabLst>
                      </a:pPr>
                      <a:r>
                        <a:rPr lang="en-IN" sz="1200" dirty="0">
                          <a:effectLst/>
                        </a:rPr>
                        <a:t>Cognitive Emotional Regulation</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508335">
                <a:tc>
                  <a:txBody>
                    <a:bodyPr/>
                    <a:lstStyle/>
                    <a:p>
                      <a:pPr>
                        <a:lnSpc>
                          <a:spcPct val="107000"/>
                        </a:lnSpc>
                        <a:spcAft>
                          <a:spcPts val="800"/>
                        </a:spcAft>
                      </a:pPr>
                      <a:r>
                        <a:rPr lang="en-IN" sz="1200" dirty="0">
                          <a:effectLst/>
                        </a:rPr>
                        <a:t>Annual Income to of the Family</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7000"/>
                        </a:lnSpc>
                        <a:spcAft>
                          <a:spcPts val="800"/>
                        </a:spcAft>
                      </a:pPr>
                      <a:r>
                        <a:rPr lang="en-IN" sz="1200">
                          <a:effectLst/>
                        </a:rPr>
                        <a:t>0.638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7000"/>
                        </a:lnSpc>
                        <a:spcAft>
                          <a:spcPts val="800"/>
                        </a:spcAft>
                      </a:pPr>
                      <a:r>
                        <a:rPr lang="en-IN" sz="1200">
                          <a:effectLst/>
                        </a:rPr>
                        <a:t>0.717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247607">
                <a:tc>
                  <a:txBody>
                    <a:bodyPr/>
                    <a:lstStyle/>
                    <a:p>
                      <a:pPr>
                        <a:lnSpc>
                          <a:spcPct val="107000"/>
                        </a:lnSpc>
                        <a:spcAft>
                          <a:spcPts val="800"/>
                        </a:spcAft>
                      </a:pPr>
                      <a:r>
                        <a:rPr lang="en-IN" sz="1200">
                          <a:effectLst/>
                        </a:rPr>
                        <a:t>Family Type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7000"/>
                        </a:lnSpc>
                        <a:spcAft>
                          <a:spcPts val="800"/>
                        </a:spcAft>
                      </a:pPr>
                      <a:r>
                        <a:rPr lang="en-IN" sz="1200">
                          <a:effectLst/>
                        </a:rPr>
                        <a:t>0.082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7000"/>
                        </a:lnSpc>
                        <a:spcAft>
                          <a:spcPts val="800"/>
                        </a:spcAft>
                      </a:pPr>
                      <a:r>
                        <a:rPr lang="en-IN" sz="1200">
                          <a:effectLst/>
                        </a:rPr>
                        <a:t>0.028*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247607">
                <a:tc>
                  <a:txBody>
                    <a:bodyPr/>
                    <a:lstStyle/>
                    <a:p>
                      <a:pPr>
                        <a:lnSpc>
                          <a:spcPct val="107000"/>
                        </a:lnSpc>
                        <a:spcAft>
                          <a:spcPts val="800"/>
                        </a:spcAft>
                      </a:pPr>
                      <a:r>
                        <a:rPr lang="en-IN" sz="1200">
                          <a:effectLst/>
                        </a:rPr>
                        <a:t>College Grade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7000"/>
                        </a:lnSpc>
                        <a:spcAft>
                          <a:spcPts val="800"/>
                        </a:spcAft>
                      </a:pPr>
                      <a:r>
                        <a:rPr lang="en-IN" sz="1200">
                          <a:effectLst/>
                        </a:rPr>
                        <a:t>0.231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7000"/>
                        </a:lnSpc>
                        <a:spcAft>
                          <a:spcPts val="800"/>
                        </a:spcAft>
                      </a:pPr>
                      <a:r>
                        <a:rPr lang="en-IN" sz="1200" dirty="0">
                          <a:effectLst/>
                        </a:rPr>
                        <a:t>0.309</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bl>
          </a:graphicData>
        </a:graphic>
      </p:graphicFrame>
      <p:sp>
        <p:nvSpPr>
          <p:cNvPr id="1048617" name="TextBox 5"/>
          <p:cNvSpPr txBox="1"/>
          <p:nvPr/>
        </p:nvSpPr>
        <p:spPr>
          <a:xfrm>
            <a:off x="120192" y="1677179"/>
            <a:ext cx="4991492" cy="675506"/>
          </a:xfrm>
          <a:prstGeom prst="rect">
            <a:avLst/>
          </a:prstGeom>
          <a:noFill/>
        </p:spPr>
        <p:txBody>
          <a:bodyPr wrap="square">
            <a:spAutoFit/>
          </a:bodyPr>
          <a:lstStyle/>
          <a:p>
            <a:pPr algn="just">
              <a:lnSpc>
                <a:spcPct val="107000"/>
              </a:lnSpc>
              <a:spcAft>
                <a:spcPts val="800"/>
              </a:spcAft>
            </a:pPr>
            <a:r>
              <a:rPr lang="en-IN" sz="1200" b="1" dirty="0">
                <a:effectLst/>
                <a:ea typeface="Calibri" panose="020F0502020204030204" pitchFamily="34" charset="0"/>
                <a:cs typeface="Times New Roman" panose="02020603050405020304" pitchFamily="18" charset="0"/>
              </a:rPr>
              <a:t>Table: Test for Two Groups of Demographic Variables and Adverse Childhood Experience &amp; Cognitive Emotion Regulation (5% Level of Significance)</a:t>
            </a:r>
            <a:endParaRPr lang="en-IN" sz="1200" dirty="0">
              <a:effectLst/>
              <a:ea typeface="Calibri" panose="020F0502020204030204" pitchFamily="34" charset="0"/>
              <a:cs typeface="Times New Roman" panose="02020603050405020304" pitchFamily="18" charset="0"/>
            </a:endParaRPr>
          </a:p>
        </p:txBody>
      </p:sp>
      <p:sp>
        <p:nvSpPr>
          <p:cNvPr id="1048618" name="TextBox 7"/>
          <p:cNvSpPr txBox="1"/>
          <p:nvPr/>
        </p:nvSpPr>
        <p:spPr>
          <a:xfrm>
            <a:off x="4928434" y="3469280"/>
            <a:ext cx="4119576" cy="662941"/>
          </a:xfrm>
          <a:prstGeom prst="rect">
            <a:avLst/>
          </a:prstGeom>
          <a:noFill/>
        </p:spPr>
        <p:txBody>
          <a:bodyPr wrap="square">
            <a:spAutoFit/>
          </a:bodyPr>
          <a:lstStyle/>
          <a:p>
            <a:pPr algn="just">
              <a:lnSpc>
                <a:spcPct val="107000"/>
              </a:lnSpc>
              <a:spcAft>
                <a:spcPts val="800"/>
              </a:spcAft>
            </a:pPr>
            <a:r>
              <a:rPr lang="en-IN" sz="1200" b="1" dirty="0">
                <a:effectLst/>
                <a:ea typeface="Calibri" panose="020F0502020204030204" pitchFamily="34" charset="0"/>
                <a:cs typeface="Times New Roman" panose="02020603050405020304" pitchFamily="18" charset="0"/>
              </a:rPr>
              <a:t>Table: Test for More than Groups of Demographic Variables and Adverse Childhood Experience &amp; Cognitive Emotion Regulation (5% Level of Significance)</a:t>
            </a:r>
            <a:endParaRPr lang="en-IN" sz="1200" dirty="0">
              <a:effectLst/>
              <a:ea typeface="Calibri" panose="020F0502020204030204" pitchFamily="34" charset="0"/>
              <a:cs typeface="Times New Roman" panose="02020603050405020304" pitchFamily="18" charset="0"/>
            </a:endParaRPr>
          </a:p>
        </p:txBody>
      </p:sp>
      <p:sp>
        <p:nvSpPr>
          <p:cNvPr id="1048620" name="Arrow: Right 9"/>
          <p:cNvSpPr/>
          <p:nvPr/>
        </p:nvSpPr>
        <p:spPr>
          <a:xfrm>
            <a:off x="5024487" y="2601798"/>
            <a:ext cx="791851" cy="35821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622" name="Arrow: Left 11"/>
          <p:cNvSpPr/>
          <p:nvPr/>
        </p:nvSpPr>
        <p:spPr>
          <a:xfrm>
            <a:off x="3596751" y="4951666"/>
            <a:ext cx="1229774" cy="55131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743" name="TextBox 1048742"/>
          <p:cNvSpPr txBox="1"/>
          <p:nvPr/>
        </p:nvSpPr>
        <p:spPr>
          <a:xfrm>
            <a:off x="5948314" y="2111577"/>
            <a:ext cx="2856639" cy="1169551"/>
          </a:xfrm>
          <a:prstGeom prst="rect">
            <a:avLst/>
          </a:prstGeom>
        </p:spPr>
        <p:txBody>
          <a:bodyPr wrap="square" rtlCol="0">
            <a:spAutoFit/>
          </a:bodyPr>
          <a:lstStyle/>
          <a:p>
            <a:r>
              <a:rPr lang="en-GB" sz="1400" dirty="0">
                <a:solidFill>
                  <a:srgbClr val="FFCB00"/>
                </a:solidFill>
              </a:rPr>
              <a:t> </a:t>
            </a:r>
            <a:r>
              <a:rPr lang="en-GB" sz="1400" b="1" dirty="0">
                <a:solidFill>
                  <a:srgbClr val="FFCB00"/>
                </a:solidFill>
              </a:rPr>
              <a:t>It is found that there exists a significant difference between 
A</a:t>
            </a:r>
            <a:r>
              <a:rPr lang="en-US" sz="1400" b="1" dirty="0">
                <a:solidFill>
                  <a:srgbClr val="FFCB00"/>
                </a:solidFill>
              </a:rPr>
              <a:t>CE </a:t>
            </a:r>
            <a:r>
              <a:rPr lang="en-GB" sz="1400" b="1" dirty="0">
                <a:solidFill>
                  <a:srgbClr val="FFCB00"/>
                </a:solidFill>
              </a:rPr>
              <a:t>and the students who are all under the category of First 
Graduate of the family. </a:t>
            </a:r>
          </a:p>
        </p:txBody>
      </p:sp>
      <p:sp>
        <p:nvSpPr>
          <p:cNvPr id="1048745" name="TextBox 1048744"/>
          <p:cNvSpPr txBox="1"/>
          <p:nvPr/>
        </p:nvSpPr>
        <p:spPr>
          <a:xfrm>
            <a:off x="317194" y="4951666"/>
            <a:ext cx="3279556" cy="1323439"/>
          </a:xfrm>
          <a:prstGeom prst="rect">
            <a:avLst/>
          </a:prstGeom>
        </p:spPr>
        <p:txBody>
          <a:bodyPr wrap="square" rtlCol="0">
            <a:spAutoFit/>
          </a:bodyPr>
          <a:lstStyle/>
          <a:p>
            <a:r>
              <a:rPr lang="en-GB" sz="1600" b="1" dirty="0">
                <a:solidFill>
                  <a:srgbClr val="FFCB00"/>
                </a:solidFill>
              </a:rPr>
              <a:t> It is found that there exists a significant difference between 
CER and the family type(Nuclear, Joint family or living alone) of the students.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3" name="Title 1"/>
          <p:cNvSpPr>
            <a:spLocks noGrp="1"/>
          </p:cNvSpPr>
          <p:nvPr>
            <p:ph type="title"/>
          </p:nvPr>
        </p:nvSpPr>
        <p:spPr/>
        <p:txBody>
          <a:bodyPr/>
          <a:lstStyle/>
          <a:p>
            <a:r>
              <a:rPr lang="en-IN" sz="2400" b="1" dirty="0">
                <a:solidFill>
                  <a:srgbClr val="FF0000"/>
                </a:solidFill>
              </a:rPr>
              <a:t>Results: Relationship between Adverse Childhood Experience and Cognitive Emotional Regulation</a:t>
            </a:r>
            <a:endParaRPr lang="en-IN" sz="2400" dirty="0"/>
          </a:p>
        </p:txBody>
      </p:sp>
      <p:graphicFrame>
        <p:nvGraphicFramePr>
          <p:cNvPr id="4194309" name="Table 7"/>
          <p:cNvGraphicFramePr>
            <a:graphicFrameLocks noGrp="1"/>
          </p:cNvGraphicFramePr>
          <p:nvPr/>
        </p:nvGraphicFramePr>
        <p:xfrm>
          <a:off x="484710" y="3003125"/>
          <a:ext cx="5184743" cy="2001013"/>
        </p:xfrm>
        <a:graphic>
          <a:graphicData uri="http://schemas.openxmlformats.org/drawingml/2006/table">
            <a:tbl>
              <a:tblPr>
                <a:tableStyleId>{5C22544A-7EE6-4342-B048-85BDC9FD1C3A}</a:tableStyleId>
              </a:tblPr>
              <a:tblGrid>
                <a:gridCol w="1018094">
                  <a:extLst>
                    <a:ext uri="{9D8B030D-6E8A-4147-A177-3AD203B41FA5}">
                      <a16:colId xmlns:a16="http://schemas.microsoft.com/office/drawing/2014/main" val="20000"/>
                    </a:ext>
                  </a:extLst>
                </a:gridCol>
                <a:gridCol w="537328">
                  <a:extLst>
                    <a:ext uri="{9D8B030D-6E8A-4147-A177-3AD203B41FA5}">
                      <a16:colId xmlns:a16="http://schemas.microsoft.com/office/drawing/2014/main" val="20001"/>
                    </a:ext>
                  </a:extLst>
                </a:gridCol>
                <a:gridCol w="1875934">
                  <a:extLst>
                    <a:ext uri="{9D8B030D-6E8A-4147-A177-3AD203B41FA5}">
                      <a16:colId xmlns:a16="http://schemas.microsoft.com/office/drawing/2014/main" val="20002"/>
                    </a:ext>
                  </a:extLst>
                </a:gridCol>
                <a:gridCol w="838986">
                  <a:extLst>
                    <a:ext uri="{9D8B030D-6E8A-4147-A177-3AD203B41FA5}">
                      <a16:colId xmlns:a16="http://schemas.microsoft.com/office/drawing/2014/main" val="20003"/>
                    </a:ext>
                  </a:extLst>
                </a:gridCol>
                <a:gridCol w="914401">
                  <a:extLst>
                    <a:ext uri="{9D8B030D-6E8A-4147-A177-3AD203B41FA5}">
                      <a16:colId xmlns:a16="http://schemas.microsoft.com/office/drawing/2014/main" val="20004"/>
                    </a:ext>
                  </a:extLst>
                </a:gridCol>
              </a:tblGrid>
              <a:tr h="162594">
                <a:tc gridSpan="3">
                  <a:txBody>
                    <a:bodyPr/>
                    <a:lstStyle/>
                    <a:p>
                      <a:pPr>
                        <a:lnSpc>
                          <a:spcPct val="107000"/>
                        </a:lnSpc>
                        <a:spcAft>
                          <a:spcPts val="800"/>
                        </a:spcAft>
                      </a:pPr>
                      <a:r>
                        <a:rPr lang="en-IN" sz="1200" dirty="0">
                          <a:effectLst/>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a:txBody>
                    <a:bodyPr/>
                    <a:lstStyle/>
                    <a:p>
                      <a:pPr marL="38100" marR="38100" algn="ctr">
                        <a:lnSpc>
                          <a:spcPts val="1600"/>
                        </a:lnSpc>
                        <a:spcAft>
                          <a:spcPts val="800"/>
                        </a:spcAft>
                      </a:pPr>
                      <a:r>
                        <a:rPr lang="en-IN" sz="1200">
                          <a:effectLst/>
                        </a:rPr>
                        <a:t>ACE</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38100" marR="38100" algn="ctr">
                        <a:lnSpc>
                          <a:spcPts val="1600"/>
                        </a:lnSpc>
                        <a:spcAft>
                          <a:spcPts val="800"/>
                        </a:spcAft>
                      </a:pPr>
                      <a:r>
                        <a:rPr lang="en-IN" sz="1200">
                          <a:effectLst/>
                        </a:rPr>
                        <a:t>CER</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0000"/>
                  </a:ext>
                </a:extLst>
              </a:tr>
              <a:tr h="332338">
                <a:tc rowSpan="6">
                  <a:txBody>
                    <a:bodyPr/>
                    <a:lstStyle/>
                    <a:p>
                      <a:pPr marL="38100" marR="38100">
                        <a:lnSpc>
                          <a:spcPts val="1600"/>
                        </a:lnSpc>
                        <a:spcAft>
                          <a:spcPts val="800"/>
                        </a:spcAft>
                      </a:pPr>
                      <a:r>
                        <a:rPr lang="en-IN" sz="1200">
                          <a:effectLst/>
                        </a:rPr>
                        <a:t>Spearman's rho</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rowSpan="3">
                  <a:txBody>
                    <a:bodyPr/>
                    <a:lstStyle/>
                    <a:p>
                      <a:pPr marL="38100" marR="38100">
                        <a:lnSpc>
                          <a:spcPts val="1600"/>
                        </a:lnSpc>
                        <a:spcAft>
                          <a:spcPts val="800"/>
                        </a:spcAft>
                      </a:pPr>
                      <a:r>
                        <a:rPr lang="en-IN" sz="1200">
                          <a:effectLst/>
                        </a:rPr>
                        <a:t>ACE</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38100" marR="38100">
                        <a:lnSpc>
                          <a:spcPts val="1600"/>
                        </a:lnSpc>
                        <a:spcAft>
                          <a:spcPts val="800"/>
                        </a:spcAft>
                      </a:pPr>
                      <a:r>
                        <a:rPr lang="en-IN" sz="1200" dirty="0">
                          <a:effectLst/>
                        </a:rPr>
                        <a:t>Correlation Coefficient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38100" marR="38100" algn="r">
                        <a:lnSpc>
                          <a:spcPts val="1600"/>
                        </a:lnSpc>
                        <a:spcAft>
                          <a:spcPts val="800"/>
                        </a:spcAft>
                      </a:pPr>
                      <a:r>
                        <a:rPr lang="en-IN" sz="1200">
                          <a:effectLst/>
                        </a:rPr>
                        <a:t>1.000</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38100" marR="38100" algn="r">
                        <a:lnSpc>
                          <a:spcPts val="1600"/>
                        </a:lnSpc>
                        <a:spcAft>
                          <a:spcPts val="800"/>
                        </a:spcAft>
                      </a:pPr>
                      <a:r>
                        <a:rPr lang="en-IN" sz="1200" dirty="0">
                          <a:effectLst/>
                        </a:rPr>
                        <a:t>.240</a:t>
                      </a:r>
                      <a:r>
                        <a:rPr lang="en-IN" sz="1200" baseline="30000" dirty="0">
                          <a:effectLst/>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0001"/>
                  </a:ext>
                </a:extLst>
              </a:tr>
              <a:tr h="348862">
                <a:tc vMerge="1">
                  <a:txBody>
                    <a:bodyPr/>
                    <a:lstStyle/>
                    <a:p>
                      <a:endParaRPr lang="en-IN"/>
                    </a:p>
                  </a:txBody>
                  <a:tcPr/>
                </a:tc>
                <a:tc vMerge="1">
                  <a:txBody>
                    <a:bodyPr/>
                    <a:lstStyle/>
                    <a:p>
                      <a:endParaRPr lang="en-IN"/>
                    </a:p>
                  </a:txBody>
                  <a:tcPr/>
                </a:tc>
                <a:tc>
                  <a:txBody>
                    <a:bodyPr/>
                    <a:lstStyle/>
                    <a:p>
                      <a:pPr marL="38100" marR="38100">
                        <a:lnSpc>
                          <a:spcPts val="1600"/>
                        </a:lnSpc>
                        <a:spcAft>
                          <a:spcPts val="800"/>
                        </a:spcAft>
                      </a:pPr>
                      <a:r>
                        <a:rPr lang="en-IN" sz="1200">
                          <a:effectLst/>
                        </a:rPr>
                        <a:t>Sig. (2-tailed)</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38100" marR="38100" algn="r">
                        <a:lnSpc>
                          <a:spcPts val="1600"/>
                        </a:lnSpc>
                        <a:spcAft>
                          <a:spcPts val="800"/>
                        </a:spcAft>
                      </a:pPr>
                      <a:r>
                        <a:rPr lang="en-IN" sz="1200" dirty="0">
                          <a:effectLst/>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38100" marR="38100" algn="r">
                        <a:lnSpc>
                          <a:spcPts val="1600"/>
                        </a:lnSpc>
                        <a:spcAft>
                          <a:spcPts val="800"/>
                        </a:spcAft>
                      </a:pPr>
                      <a:r>
                        <a:rPr lang="en-IN" sz="1200">
                          <a:effectLst/>
                        </a:rPr>
                        <a:t>.000</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0002"/>
                  </a:ext>
                </a:extLst>
              </a:tr>
              <a:tr h="162594">
                <a:tc vMerge="1">
                  <a:txBody>
                    <a:bodyPr/>
                    <a:lstStyle/>
                    <a:p>
                      <a:endParaRPr lang="en-IN"/>
                    </a:p>
                  </a:txBody>
                  <a:tcPr/>
                </a:tc>
                <a:tc vMerge="1">
                  <a:txBody>
                    <a:bodyPr/>
                    <a:lstStyle/>
                    <a:p>
                      <a:endParaRPr lang="en-IN"/>
                    </a:p>
                  </a:txBody>
                  <a:tcPr/>
                </a:tc>
                <a:tc>
                  <a:txBody>
                    <a:bodyPr/>
                    <a:lstStyle/>
                    <a:p>
                      <a:pPr marL="38100" marR="38100">
                        <a:lnSpc>
                          <a:spcPts val="1600"/>
                        </a:lnSpc>
                        <a:spcAft>
                          <a:spcPts val="800"/>
                        </a:spcAft>
                      </a:pPr>
                      <a:r>
                        <a:rPr lang="en-IN" sz="1200">
                          <a:effectLst/>
                        </a:rPr>
                        <a:t>N</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38100" marR="38100" algn="r">
                        <a:lnSpc>
                          <a:spcPts val="1600"/>
                        </a:lnSpc>
                        <a:spcAft>
                          <a:spcPts val="800"/>
                        </a:spcAft>
                      </a:pPr>
                      <a:r>
                        <a:rPr lang="en-IN" sz="1200">
                          <a:effectLst/>
                        </a:rPr>
                        <a:t>276</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38100" marR="38100" algn="r">
                        <a:lnSpc>
                          <a:spcPts val="1600"/>
                        </a:lnSpc>
                        <a:spcAft>
                          <a:spcPts val="800"/>
                        </a:spcAft>
                      </a:pPr>
                      <a:r>
                        <a:rPr lang="en-IN" sz="1200" dirty="0">
                          <a:effectLst/>
                        </a:rPr>
                        <a:t>276</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0003"/>
                  </a:ext>
                </a:extLst>
              </a:tr>
              <a:tr h="332338">
                <a:tc vMerge="1">
                  <a:txBody>
                    <a:bodyPr/>
                    <a:lstStyle/>
                    <a:p>
                      <a:endParaRPr lang="en-IN"/>
                    </a:p>
                  </a:txBody>
                  <a:tcPr/>
                </a:tc>
                <a:tc rowSpan="3">
                  <a:txBody>
                    <a:bodyPr/>
                    <a:lstStyle/>
                    <a:p>
                      <a:pPr marL="38100" marR="38100">
                        <a:lnSpc>
                          <a:spcPts val="1600"/>
                        </a:lnSpc>
                        <a:spcAft>
                          <a:spcPts val="800"/>
                        </a:spcAft>
                      </a:pPr>
                      <a:r>
                        <a:rPr lang="en-IN" sz="1200">
                          <a:effectLst/>
                        </a:rPr>
                        <a:t>CER</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38100" marR="38100">
                        <a:lnSpc>
                          <a:spcPts val="1600"/>
                        </a:lnSpc>
                        <a:spcAft>
                          <a:spcPts val="800"/>
                        </a:spcAft>
                      </a:pPr>
                      <a:r>
                        <a:rPr lang="en-IN" sz="1200">
                          <a:effectLst/>
                        </a:rPr>
                        <a:t>Correlation Coefficient</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38100" marR="38100" algn="r">
                        <a:lnSpc>
                          <a:spcPts val="1600"/>
                        </a:lnSpc>
                        <a:spcAft>
                          <a:spcPts val="800"/>
                        </a:spcAft>
                      </a:pPr>
                      <a:r>
                        <a:rPr lang="en-IN" sz="1200">
                          <a:effectLst/>
                        </a:rPr>
                        <a:t>.240</a:t>
                      </a:r>
                      <a:r>
                        <a:rPr lang="en-IN" sz="1200" baseline="30000">
                          <a:effectLst/>
                        </a:rPr>
                        <a:t>**</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38100" marR="38100" algn="r">
                        <a:lnSpc>
                          <a:spcPts val="1600"/>
                        </a:lnSpc>
                        <a:spcAft>
                          <a:spcPts val="800"/>
                        </a:spcAft>
                      </a:pPr>
                      <a:r>
                        <a:rPr lang="en-IN" sz="1200" dirty="0">
                          <a:effectLst/>
                        </a:rPr>
                        <a:t>1.000</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0004"/>
                  </a:ext>
                </a:extLst>
              </a:tr>
              <a:tr h="222171">
                <a:tc vMerge="1">
                  <a:txBody>
                    <a:bodyPr/>
                    <a:lstStyle/>
                    <a:p>
                      <a:endParaRPr lang="en-IN"/>
                    </a:p>
                  </a:txBody>
                  <a:tcPr/>
                </a:tc>
                <a:tc vMerge="1">
                  <a:txBody>
                    <a:bodyPr/>
                    <a:lstStyle/>
                    <a:p>
                      <a:endParaRPr lang="en-IN"/>
                    </a:p>
                  </a:txBody>
                  <a:tcPr/>
                </a:tc>
                <a:tc>
                  <a:txBody>
                    <a:bodyPr/>
                    <a:lstStyle/>
                    <a:p>
                      <a:pPr marL="38100" marR="38100">
                        <a:lnSpc>
                          <a:spcPts val="1600"/>
                        </a:lnSpc>
                        <a:spcAft>
                          <a:spcPts val="800"/>
                        </a:spcAft>
                      </a:pPr>
                      <a:r>
                        <a:rPr lang="en-IN" sz="1200">
                          <a:effectLst/>
                        </a:rPr>
                        <a:t>Sig. (2-tailed)</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38100" marR="38100" algn="r">
                        <a:lnSpc>
                          <a:spcPts val="1600"/>
                        </a:lnSpc>
                        <a:spcAft>
                          <a:spcPts val="800"/>
                        </a:spcAft>
                      </a:pPr>
                      <a:r>
                        <a:rPr lang="en-IN" sz="1200">
                          <a:effectLst/>
                        </a:rPr>
                        <a:t>.000</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38100" marR="38100" algn="r">
                        <a:lnSpc>
                          <a:spcPts val="1600"/>
                        </a:lnSpc>
                        <a:spcAft>
                          <a:spcPts val="800"/>
                        </a:spcAft>
                      </a:pPr>
                      <a:r>
                        <a:rPr lang="en-IN" sz="1200" dirty="0">
                          <a:effectLst/>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0005"/>
                  </a:ext>
                </a:extLst>
              </a:tr>
              <a:tr h="162594">
                <a:tc vMerge="1">
                  <a:txBody>
                    <a:bodyPr/>
                    <a:lstStyle/>
                    <a:p>
                      <a:endParaRPr lang="en-IN"/>
                    </a:p>
                  </a:txBody>
                  <a:tcPr/>
                </a:tc>
                <a:tc vMerge="1">
                  <a:txBody>
                    <a:bodyPr/>
                    <a:lstStyle/>
                    <a:p>
                      <a:endParaRPr lang="en-IN"/>
                    </a:p>
                  </a:txBody>
                  <a:tcPr/>
                </a:tc>
                <a:tc>
                  <a:txBody>
                    <a:bodyPr/>
                    <a:lstStyle/>
                    <a:p>
                      <a:pPr marL="38100" marR="38100">
                        <a:lnSpc>
                          <a:spcPts val="1600"/>
                        </a:lnSpc>
                        <a:spcAft>
                          <a:spcPts val="800"/>
                        </a:spcAft>
                      </a:pPr>
                      <a:r>
                        <a:rPr lang="en-IN" sz="1200">
                          <a:effectLst/>
                        </a:rPr>
                        <a:t>N</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38100" marR="38100" algn="r">
                        <a:lnSpc>
                          <a:spcPts val="1600"/>
                        </a:lnSpc>
                        <a:spcAft>
                          <a:spcPts val="800"/>
                        </a:spcAft>
                      </a:pPr>
                      <a:r>
                        <a:rPr lang="en-IN" sz="1200">
                          <a:effectLst/>
                        </a:rPr>
                        <a:t>276</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38100" marR="38100" algn="r">
                        <a:lnSpc>
                          <a:spcPts val="1600"/>
                        </a:lnSpc>
                        <a:spcAft>
                          <a:spcPts val="800"/>
                        </a:spcAft>
                      </a:pPr>
                      <a:r>
                        <a:rPr lang="en-IN" sz="1200" dirty="0">
                          <a:effectLst/>
                        </a:rPr>
                        <a:t>276</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0006"/>
                  </a:ext>
                </a:extLst>
              </a:tr>
              <a:tr h="103857">
                <a:tc gridSpan="5">
                  <a:txBody>
                    <a:bodyPr/>
                    <a:lstStyle/>
                    <a:p>
                      <a:pPr marL="38100" marR="38100">
                        <a:lnSpc>
                          <a:spcPts val="1600"/>
                        </a:lnSpc>
                        <a:spcAft>
                          <a:spcPts val="800"/>
                        </a:spcAft>
                      </a:pPr>
                      <a:r>
                        <a:rPr lang="en-IN" sz="1200" dirty="0">
                          <a:effectLst/>
                        </a:rPr>
                        <a:t>**. Correlation is significant at the 0.01 level (2-tailed).</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7"/>
                  </a:ext>
                </a:extLst>
              </a:tr>
            </a:tbl>
          </a:graphicData>
        </a:graphic>
      </p:graphicFrame>
      <p:sp>
        <p:nvSpPr>
          <p:cNvPr id="1048624" name="TextBox 9"/>
          <p:cNvSpPr txBox="1"/>
          <p:nvPr/>
        </p:nvSpPr>
        <p:spPr>
          <a:xfrm>
            <a:off x="463499" y="1948984"/>
            <a:ext cx="5227163" cy="929640"/>
          </a:xfrm>
          <a:prstGeom prst="rect">
            <a:avLst/>
          </a:prstGeom>
          <a:noFill/>
        </p:spPr>
        <p:txBody>
          <a:bodyPr wrap="square">
            <a:spAutoFit/>
          </a:bodyPr>
          <a:lstStyle/>
          <a:p>
            <a:pPr algn="just">
              <a:lnSpc>
                <a:spcPct val="107000"/>
              </a:lnSpc>
              <a:spcAft>
                <a:spcPts val="800"/>
              </a:spcAft>
            </a:pPr>
            <a:r>
              <a:rPr lang="en-IN" sz="1800" b="1" dirty="0">
                <a:effectLst/>
                <a:ea typeface="Calibri" panose="020F0502020204030204" pitchFamily="34" charset="0"/>
                <a:cs typeface="Times New Roman" panose="02020603050405020304" pitchFamily="18" charset="0"/>
              </a:rPr>
              <a:t>Table: Correlation Co-efficient between Adverse Childhood Experience &amp; Cognitive Emotion Regulation (5% Level of Significance)</a:t>
            </a:r>
            <a:endParaRPr lang="en-IN" sz="1800" dirty="0">
              <a:effectLst/>
              <a:ea typeface="Calibri" panose="020F0502020204030204" pitchFamily="34" charset="0"/>
              <a:cs typeface="Times New Roman" panose="02020603050405020304" pitchFamily="18" charset="0"/>
            </a:endParaRPr>
          </a:p>
        </p:txBody>
      </p:sp>
      <p:sp>
        <p:nvSpPr>
          <p:cNvPr id="1048625" name="TextBox 11"/>
          <p:cNvSpPr txBox="1"/>
          <p:nvPr/>
        </p:nvSpPr>
        <p:spPr>
          <a:xfrm>
            <a:off x="3862633" y="5212522"/>
            <a:ext cx="4991492" cy="1488440"/>
          </a:xfrm>
          <a:prstGeom prst="rect">
            <a:avLst/>
          </a:prstGeom>
          <a:noFill/>
        </p:spPr>
        <p:txBody>
          <a:bodyPr wrap="square">
            <a:spAutoFit/>
          </a:bodyPr>
          <a:lstStyle/>
          <a:p>
            <a:pPr algn="just">
              <a:lnSpc>
                <a:spcPct val="107000"/>
              </a:lnSpc>
              <a:spcAft>
                <a:spcPts val="800"/>
              </a:spcAft>
            </a:pPr>
            <a:r>
              <a:rPr lang="en-US" sz="1800" b="1" dirty="0">
                <a:solidFill>
                  <a:srgbClr val="FFFF00"/>
                </a:solidFill>
                <a:effectLst/>
                <a:ea typeface="Calibri" panose="020F0502020204030204" pitchFamily="34" charset="0"/>
                <a:cs typeface="Times New Roman" panose="02020603050405020304" pitchFamily="18" charset="0"/>
              </a:rPr>
              <a:t>Adverse Childhood Experience &amp; Cognitive Emotion Regulation are significantly correlated and Correlation Co-efficient between Adverse Childhood Experience &amp; Cognitive Emotion Regulation is 0.240</a:t>
            </a:r>
            <a:endParaRPr lang="en-IN" sz="1800" dirty="0">
              <a:solidFill>
                <a:srgbClr val="FFFF00"/>
              </a:solidFill>
              <a:effectLst/>
              <a:ea typeface="Calibri" panose="020F0502020204030204" pitchFamily="34" charset="0"/>
              <a:cs typeface="Times New Roman" panose="02020603050405020304" pitchFamily="18" charset="0"/>
            </a:endParaRPr>
          </a:p>
        </p:txBody>
      </p:sp>
      <p:sp>
        <p:nvSpPr>
          <p:cNvPr id="1048626" name="Arrow: Curved Down 13"/>
          <p:cNvSpPr/>
          <p:nvPr/>
        </p:nvSpPr>
        <p:spPr>
          <a:xfrm rot="4797480">
            <a:off x="5757625" y="3880781"/>
            <a:ext cx="1729482" cy="1043493"/>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7" name="Title 1"/>
          <p:cNvSpPr>
            <a:spLocks noGrp="1"/>
          </p:cNvSpPr>
          <p:nvPr>
            <p:ph type="title"/>
          </p:nvPr>
        </p:nvSpPr>
        <p:spPr/>
        <p:txBody>
          <a:bodyPr/>
          <a:lstStyle/>
          <a:p>
            <a:r>
              <a:rPr lang="en-IN" sz="2800" b="1" dirty="0">
                <a:solidFill>
                  <a:srgbClr val="FF0000"/>
                </a:solidFill>
              </a:rPr>
              <a:t>Results: Dashboard for Predict the Adverse Childhood Experience based on Cognitive Emotional Regulation</a:t>
            </a:r>
            <a:endParaRPr lang="en-IN" sz="2800" dirty="0"/>
          </a:p>
        </p:txBody>
      </p:sp>
      <p:pic>
        <p:nvPicPr>
          <p:cNvPr id="2097161" name="Picture 3"/>
          <p:cNvPicPr>
            <a:picLocks noChangeAspect="1"/>
          </p:cNvPicPr>
          <p:nvPr/>
        </p:nvPicPr>
        <p:blipFill>
          <a:blip r:embed="rId2"/>
          <a:stretch>
            <a:fillRect/>
          </a:stretch>
        </p:blipFill>
        <p:spPr>
          <a:xfrm>
            <a:off x="405352" y="2734103"/>
            <a:ext cx="7688675" cy="3982493"/>
          </a:xfrm>
          <a:prstGeom prst="rect">
            <a:avLst/>
          </a:prstGeom>
        </p:spPr>
      </p:pic>
      <p:sp>
        <p:nvSpPr>
          <p:cNvPr id="1048628" name="TextBox 5"/>
          <p:cNvSpPr txBox="1"/>
          <p:nvPr/>
        </p:nvSpPr>
        <p:spPr>
          <a:xfrm>
            <a:off x="259237" y="1766339"/>
            <a:ext cx="8625526" cy="954107"/>
          </a:xfrm>
          <a:prstGeom prst="rect">
            <a:avLst/>
          </a:prstGeom>
          <a:noFill/>
        </p:spPr>
        <p:txBody>
          <a:bodyPr wrap="square">
            <a:spAutoFit/>
          </a:bodyPr>
          <a:lstStyle/>
          <a:p>
            <a:pPr algn="just"/>
            <a:r>
              <a:rPr lang="en-IN" sz="1400" dirty="0"/>
              <a:t>For the Dashboard creation, we have worked with one of the ensemble learning algorithms, Random Forest Classifier. Randomly selected subsets of our dataset are trained and their predictions were combined to get the final outcome.  This classifier shows the highest accuracy of 68% when compared to other classifiers for our dataset.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048731" name="TextBox 1048730"/>
          <p:cNvSpPr txBox="1"/>
          <p:nvPr/>
        </p:nvSpPr>
        <p:spPr>
          <a:xfrm>
            <a:off x="184283" y="1073808"/>
            <a:ext cx="8775434" cy="5016758"/>
          </a:xfrm>
          <a:prstGeom prst="rect">
            <a:avLst/>
          </a:prstGeom>
        </p:spPr>
        <p:txBody>
          <a:bodyPr wrap="square" rtlCol="0">
            <a:spAutoFit/>
          </a:bodyPr>
          <a:lstStyle/>
          <a:p>
            <a:r>
              <a:rPr lang="en-GB" sz="2000" dirty="0">
                <a:solidFill>
                  <a:srgbClr val="FFFFFF"/>
                </a:solidFill>
              </a:rPr>
              <a:t>➢ The level of exposure to ACE is related to the students from first</a:t>
            </a:r>
          </a:p>
          <a:p>
            <a:r>
              <a:rPr lang="en-GB" sz="2000" dirty="0">
                <a:solidFill>
                  <a:srgbClr val="FFFFFF"/>
                </a:solidFill>
              </a:rPr>
              <a:t>     graduate and non-first graduate in their family and also, first</a:t>
            </a:r>
          </a:p>
          <a:p>
            <a:r>
              <a:rPr lang="en-GB" sz="2000" dirty="0">
                <a:solidFill>
                  <a:srgbClr val="FFFFFF"/>
                </a:solidFill>
              </a:rPr>
              <a:t>     graduate and non-first graduate college students mean</a:t>
            </a:r>
          </a:p>
          <a:p>
            <a:r>
              <a:rPr lang="en-GB" sz="2000" dirty="0">
                <a:solidFill>
                  <a:srgbClr val="FFFFFF"/>
                </a:solidFill>
              </a:rPr>
              <a:t>     a score of adverse childhood experiences is not the same. </a:t>
            </a:r>
          </a:p>
          <a:p>
            <a:r>
              <a:rPr lang="en-GB" sz="2000" dirty="0">
                <a:solidFill>
                  <a:srgbClr val="FFFFFF"/>
                </a:solidFill>
              </a:rPr>
              <a:t>
➢ The Cognitive Emotional Regulation of college students is</a:t>
            </a:r>
          </a:p>
          <a:p>
            <a:r>
              <a:rPr lang="en-GB" sz="2000" dirty="0">
                <a:solidFill>
                  <a:srgbClr val="FFFFFF"/>
                </a:solidFill>
              </a:rPr>
              <a:t>     depending on their family types (Nuclear/Joint Family/Living</a:t>
            </a:r>
          </a:p>
          <a:p>
            <a:r>
              <a:rPr lang="en-GB" sz="2000" dirty="0">
                <a:solidFill>
                  <a:srgbClr val="FFFFFF"/>
                </a:solidFill>
              </a:rPr>
              <a:t>     Alone). </a:t>
            </a:r>
          </a:p>
          <a:p>
            <a:r>
              <a:rPr lang="en-GB" sz="2000" dirty="0">
                <a:solidFill>
                  <a:srgbClr val="FFFFFF"/>
                </a:solidFill>
              </a:rPr>
              <a:t>
➢ The correlation co-efficient between ACE &amp; CER is 24%.</a:t>
            </a:r>
          </a:p>
          <a:p>
            <a:endParaRPr lang="en-GB" sz="2000" dirty="0">
              <a:solidFill>
                <a:srgbClr val="FFFFFF"/>
              </a:solidFill>
            </a:endParaRPr>
          </a:p>
          <a:p>
            <a:r>
              <a:rPr lang="en-GB" altLang="en-US" sz="2000" dirty="0">
                <a:solidFill>
                  <a:srgbClr val="FFFFFF"/>
                </a:solidFill>
              </a:rPr>
              <a:t>➢ The dashboard has been constructed based on cognitive emotion</a:t>
            </a:r>
          </a:p>
          <a:p>
            <a:r>
              <a:rPr lang="en-GB" altLang="en-US" sz="2000" dirty="0">
                <a:solidFill>
                  <a:srgbClr val="FFFFFF"/>
                </a:solidFill>
              </a:rPr>
              <a:t>     regulation of college students to predict the level of the</a:t>
            </a:r>
          </a:p>
          <a:p>
            <a:r>
              <a:rPr lang="en-GB" altLang="en-US" sz="2000" dirty="0">
                <a:solidFill>
                  <a:srgbClr val="FFFFFF"/>
                </a:solidFill>
              </a:rPr>
              <a:t>     adverse childhood experience to reduce the impact of</a:t>
            </a:r>
          </a:p>
          <a:p>
            <a:r>
              <a:rPr lang="en-GB" altLang="en-US" sz="2000" dirty="0">
                <a:solidFill>
                  <a:srgbClr val="FFFFFF"/>
                </a:solidFill>
              </a:rPr>
              <a:t>     psychological and </a:t>
            </a:r>
            <a:r>
              <a:rPr lang="en-GB" altLang="en-US" sz="2000" dirty="0" err="1">
                <a:solidFill>
                  <a:srgbClr val="FFFFFF"/>
                </a:solidFill>
              </a:rPr>
              <a:t>behavioral</a:t>
            </a:r>
            <a:r>
              <a:rPr lang="en-GB" altLang="en-US" sz="2000" dirty="0">
                <a:solidFill>
                  <a:srgbClr val="FFFFFF"/>
                </a:solidFill>
              </a:rPr>
              <a:t> difficulties of students in the early</a:t>
            </a:r>
          </a:p>
          <a:p>
            <a:r>
              <a:rPr lang="en-GB" altLang="en-US" sz="2000" dirty="0">
                <a:solidFill>
                  <a:srgbClr val="FFFFFF"/>
                </a:solidFill>
              </a:rPr>
              <a:t>     stage of life.</a:t>
            </a:r>
            <a:endParaRPr lang="en-GB" sz="2000" dirty="0">
              <a:solidFill>
                <a:srgbClr val="FFFFFF"/>
              </a:solidFill>
            </a:endParaRPr>
          </a:p>
        </p:txBody>
      </p:sp>
      <p:sp>
        <p:nvSpPr>
          <p:cNvPr id="1048629" name="Google Shape;135;p7"/>
          <p:cNvSpPr txBox="1">
            <a:spLocks noGrp="1"/>
          </p:cNvSpPr>
          <p:nvPr>
            <p:ph type="title"/>
          </p:nvPr>
        </p:nvSpPr>
        <p:spPr>
          <a:xfrm>
            <a:off x="272572" y="92587"/>
            <a:ext cx="7055380" cy="981221"/>
          </a:xfrm>
          <a:prstGeom prst="rect">
            <a:avLst/>
          </a:prstGeom>
          <a:noFill/>
          <a:ln>
            <a:noFill/>
          </a:ln>
        </p:spPr>
        <p:txBody>
          <a:bodyPr spcFirstLastPara="1" wrap="square" lIns="91425" tIns="45700" rIns="91425" bIns="45700" anchor="ctr" anchorCtr="0">
            <a:normAutofit/>
          </a:bodyPr>
          <a:lstStyle/>
          <a:p>
            <a:pPr marL="0" lvl="0" indent="0" rtl="0">
              <a:lnSpc>
                <a:spcPct val="100000"/>
              </a:lnSpc>
              <a:spcBef>
                <a:spcPts val="0"/>
              </a:spcBef>
              <a:spcAft>
                <a:spcPts val="0"/>
              </a:spcAft>
              <a:buClr>
                <a:srgbClr val="EAD594"/>
              </a:buClr>
              <a:buSzPts val="4100"/>
              <a:buFont typeface="Lucida Sans"/>
              <a:buNone/>
            </a:pPr>
            <a:r>
              <a:rPr lang="en-US" dirty="0">
                <a:solidFill>
                  <a:srgbClr val="FF0000"/>
                </a:solidFill>
              </a:rPr>
              <a:t>Conclusion</a:t>
            </a:r>
            <a:endParaRPr dirty="0">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3" name="Title 1048732"/>
          <p:cNvSpPr>
            <a:spLocks noGrp="1"/>
          </p:cNvSpPr>
          <p:nvPr>
            <p:ph type="title"/>
          </p:nvPr>
        </p:nvSpPr>
        <p:spPr>
          <a:xfrm>
            <a:off x="484710" y="452718"/>
            <a:ext cx="7055380" cy="339989"/>
          </a:xfrm>
        </p:spPr>
        <p:txBody>
          <a:bodyPr/>
          <a:lstStyle/>
          <a:p>
            <a:r>
              <a:rPr lang="en-US" dirty="0">
                <a:solidFill>
                  <a:srgbClr val="BF0000"/>
                </a:solidFill>
              </a:rPr>
              <a:t>Suggestions</a:t>
            </a:r>
            <a:endParaRPr lang="en-GB" dirty="0">
              <a:solidFill>
                <a:srgbClr val="BF0000"/>
              </a:solidFill>
            </a:endParaRPr>
          </a:p>
        </p:txBody>
      </p:sp>
      <p:sp>
        <p:nvSpPr>
          <p:cNvPr id="1048739" name="TextBox 1048738"/>
          <p:cNvSpPr txBox="1"/>
          <p:nvPr/>
        </p:nvSpPr>
        <p:spPr>
          <a:xfrm>
            <a:off x="484709" y="1405774"/>
            <a:ext cx="7756514" cy="4801314"/>
          </a:xfrm>
          <a:prstGeom prst="rect">
            <a:avLst/>
          </a:prstGeom>
        </p:spPr>
        <p:txBody>
          <a:bodyPr wrap="square" rtlCol="0" anchor="ctr">
            <a:spAutoFit/>
          </a:bodyPr>
          <a:lstStyle/>
          <a:p>
            <a:r>
              <a:rPr lang="en-GB" sz="1800" dirty="0">
                <a:solidFill>
                  <a:srgbClr val="FFFFFF"/>
                </a:solidFill>
              </a:rPr>
              <a:t>               Among 275 college students taken as a sample from the Madras Christian College, 10 students were under high exposure, and 24 students were found to have moderate </a:t>
            </a:r>
            <a:r>
              <a:rPr lang="en-US" sz="1800" dirty="0">
                <a:solidFill>
                  <a:srgbClr val="FFFFFF"/>
                </a:solidFill>
              </a:rPr>
              <a:t>exposure</a:t>
            </a:r>
            <a:r>
              <a:rPr lang="en-GB" sz="1800" dirty="0">
                <a:solidFill>
                  <a:srgbClr val="FFFFFF"/>
                </a:solidFill>
              </a:rPr>
              <a:t> </a:t>
            </a:r>
            <a:r>
              <a:rPr lang="en-US" sz="1800" dirty="0">
                <a:solidFill>
                  <a:srgbClr val="FFFFFF"/>
                </a:solidFill>
              </a:rPr>
              <a:t>to </a:t>
            </a:r>
            <a:r>
              <a:rPr lang="en-GB" sz="1800" dirty="0">
                <a:solidFill>
                  <a:srgbClr val="FFFFFF"/>
                </a:solidFill>
              </a:rPr>
              <a:t>adverse childhood experiences. i.e. , one-tenth of students have adverse childhood </a:t>
            </a:r>
            <a:r>
              <a:rPr lang="en-US" sz="1800" dirty="0">
                <a:solidFill>
                  <a:srgbClr val="FFFFFF"/>
                </a:solidFill>
              </a:rPr>
              <a:t>experiences</a:t>
            </a:r>
            <a:r>
              <a:rPr lang="en-GB" sz="1800" dirty="0">
                <a:solidFill>
                  <a:srgbClr val="FFFFFF"/>
                </a:solidFill>
              </a:rPr>
              <a:t> at Madras Christian College. So, they have recommended college management</a:t>
            </a:r>
            <a:r>
              <a:rPr lang="en-US" sz="1800" dirty="0">
                <a:solidFill>
                  <a:srgbClr val="FFFFFF"/>
                </a:solidFill>
              </a:rPr>
              <a:t> </a:t>
            </a:r>
            <a:r>
              <a:rPr lang="en-US" sz="1800" dirty="0" err="1">
                <a:solidFill>
                  <a:srgbClr val="FFFFFF"/>
                </a:solidFill>
              </a:rPr>
              <a:t>offe</a:t>
            </a:r>
            <a:r>
              <a:rPr lang="en-GB" sz="1800" dirty="0">
                <a:solidFill>
                  <a:srgbClr val="FFFFFF"/>
                </a:solidFill>
              </a:rPr>
              <a:t>r the following:</a:t>
            </a:r>
          </a:p>
          <a:p>
            <a:endParaRPr lang="en-GB" sz="1800" dirty="0">
              <a:solidFill>
                <a:srgbClr val="FFFFFF"/>
              </a:solidFill>
            </a:endParaRPr>
          </a:p>
          <a:p>
            <a:pPr marL="285750" indent="-285750">
              <a:buFont typeface="Wingdings" panose="05000000000000000000" pitchFamily="2" charset="2"/>
              <a:buChar char="Ø"/>
            </a:pPr>
            <a:r>
              <a:rPr lang="en-GB" altLang="en-US" sz="1800" dirty="0">
                <a:solidFill>
                  <a:srgbClr val="FFFFFF"/>
                </a:solidFill>
              </a:rPr>
              <a:t> With immediate effect as a short period solution, the identified students are advised to be offered trauma-informed psychotherapy from the College, with the consent of those students.</a:t>
            </a:r>
            <a:endParaRPr lang="en-GB" sz="1800" dirty="0">
              <a:solidFill>
                <a:srgbClr val="FFFFFF"/>
              </a:solidFill>
            </a:endParaRPr>
          </a:p>
          <a:p>
            <a:pPr marL="285750" indent="-285750">
              <a:buFont typeface="Wingdings" panose="05000000000000000000" pitchFamily="2" charset="2"/>
              <a:buChar char="Ø"/>
            </a:pPr>
            <a:r>
              <a:rPr lang="en-GB" altLang="en-US" sz="1800" dirty="0">
                <a:solidFill>
                  <a:srgbClr val="FFFFFF"/>
                </a:solidFill>
              </a:rPr>
              <a:t>Awareness camps about the impact of childhood trauma could be conducted along with</a:t>
            </a:r>
            <a:r>
              <a:rPr lang="en-US" altLang="en-US" sz="1800" dirty="0">
                <a:solidFill>
                  <a:srgbClr val="FFFFFF"/>
                </a:solidFill>
              </a:rPr>
              <a:t> the f</a:t>
            </a:r>
            <a:r>
              <a:rPr lang="en-GB" altLang="en-US" sz="1800" dirty="0" err="1">
                <a:solidFill>
                  <a:srgbClr val="FFFFFF"/>
                </a:solidFill>
              </a:rPr>
              <a:t>aculty</a:t>
            </a:r>
            <a:r>
              <a:rPr lang="en-GB" altLang="en-US" sz="1800" dirty="0">
                <a:solidFill>
                  <a:srgbClr val="FFFFFF"/>
                </a:solidFill>
              </a:rPr>
              <a:t> members and students of various departments of the college.</a:t>
            </a:r>
            <a:endParaRPr lang="en-GB" sz="1800" dirty="0">
              <a:solidFill>
                <a:srgbClr val="FFFFFF"/>
              </a:solidFill>
            </a:endParaRPr>
          </a:p>
          <a:p>
            <a:pPr marL="285750" indent="-285750">
              <a:buFont typeface="Wingdings" panose="05000000000000000000" pitchFamily="2" charset="2"/>
              <a:buChar char="Ø"/>
            </a:pPr>
            <a:r>
              <a:rPr lang="en-GB" altLang="en-US" sz="1800" dirty="0">
                <a:solidFill>
                  <a:srgbClr val="FFFFFF"/>
                </a:solidFill>
              </a:rPr>
              <a:t> In the long run, Trauma-informed care modules for faculties and students need to be provided to improve their mental well-being from the college </a:t>
            </a:r>
            <a:r>
              <a:rPr lang="en-GB" altLang="en-US" sz="1800" dirty="0" err="1">
                <a:solidFill>
                  <a:srgbClr val="FFFFFF"/>
                </a:solidFill>
              </a:rPr>
              <a:t>counselor</a:t>
            </a:r>
            <a:r>
              <a:rPr lang="en-GB" altLang="en-US" sz="1800" dirty="0">
                <a:solidFill>
                  <a:srgbClr val="FFFFFF"/>
                </a:solidFill>
              </a:rPr>
              <a:t>.</a:t>
            </a:r>
            <a:endParaRPr lang="en-GB" sz="1800" dirty="0">
              <a:solidFill>
                <a:srgbClr val="FFFFFF"/>
              </a:solidFill>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fillRect/>
          </a:stretch>
        </a:blip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TotalTime>
  <Words>1425</Words>
  <Application>Microsoft Office PowerPoint</Application>
  <PresentationFormat>On-screen Show (4:3)</PresentationFormat>
  <Paragraphs>164</Paragraphs>
  <Slides>12</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Century Schoolbook</vt:lpstr>
      <vt:lpstr>Wingdings 3</vt:lpstr>
      <vt:lpstr>Calibri</vt:lpstr>
      <vt:lpstr>Wingdings</vt:lpstr>
      <vt:lpstr>Century Gothic</vt:lpstr>
      <vt:lpstr>Arial</vt:lpstr>
      <vt:lpstr>Lucida Sans</vt:lpstr>
      <vt:lpstr>Ion</vt:lpstr>
      <vt:lpstr>PSYCHOLOGICAL TRAUMA AND THEIR COGNITIVE EMOTIONAL REGULATION OF COLLEGE STUDENTS - A STATISTICAL PERSPECTIVE</vt:lpstr>
      <vt:lpstr>BACKGROUND OF THE STUDY</vt:lpstr>
      <vt:lpstr>Importance of the study</vt:lpstr>
      <vt:lpstr>Objective</vt:lpstr>
      <vt:lpstr>METHODOLOGY: Sample Design, Study Design &amp; Tools for Data Collection</vt:lpstr>
      <vt:lpstr>Results: Reliability &amp; Validity, Frequency Measure</vt:lpstr>
      <vt:lpstr>Results: Association between Adverse Childhood Experience with Demographic Characters</vt:lpstr>
      <vt:lpstr>Results: Mean Comparison between Adverse Childhood Experience and Cognitive Emotional Regulation with Demographic Characters</vt:lpstr>
      <vt:lpstr>Results: Relationship between Adverse Childhood Experience and Cognitive Emotional Regulation</vt:lpstr>
      <vt:lpstr>Results: Dashboard for Predict the Adverse Childhood Experience based on Cognitive Emotional Regulation</vt:lpstr>
      <vt:lpstr>Conclusion</vt:lpstr>
      <vt:lpstr>Suggestions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Assessing the Impact of Adverse Childhood Experience on Mental Health and Cognitive &amp; Emotional Regulation among College Students</dc:title>
  <dc:creator>user</dc:creator>
  <cp:lastModifiedBy>snega</cp:lastModifiedBy>
  <cp:revision>1</cp:revision>
  <dcterms:created xsi:type="dcterms:W3CDTF">2023-02-14T17:28:34Z</dcterms:created>
  <dcterms:modified xsi:type="dcterms:W3CDTF">2023-04-10T13:29:55Z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067c87da317748eabe464f4c735f421a</vt:lpwstr>
  </property>
</Properties>
</file>